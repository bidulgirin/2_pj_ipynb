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8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B76CA6B-5DA6-45C4-B833-132EAC621518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accent3"/>
              </a:solidFill>
              <a:prstDash val="dash"/>
            </a:ln>
          </a:left>
          <a:right>
            <a:ln w="32700" cmpd="sng">
              <a:solidFill>
                <a:schemeClr val="accent3"/>
              </a:solidFill>
              <a:prstDash val="dash"/>
            </a:ln>
          </a:right>
          <a:top>
            <a:ln w="32700" cmpd="sng">
              <a:solidFill>
                <a:schemeClr val="accent3"/>
              </a:solidFill>
              <a:prstDash val="dash"/>
            </a:ln>
          </a:top>
          <a:bottom>
            <a:ln w="32700" cmpd="sng">
              <a:solidFill>
                <a:schemeClr val="accent3"/>
              </a:solidFill>
              <a:prstDash val="dash"/>
            </a:ln>
          </a:bottom>
          <a:insideH>
            <a:ln w="22700" cmpd="sng">
              <a:solidFill>
                <a:schemeClr val="accent3"/>
              </a:solidFill>
              <a:prstDash val="sysDot"/>
            </a:ln>
          </a:insideH>
          <a:insideV>
            <a:ln w="22700" cmpd="sng">
              <a:solidFill>
                <a:schemeClr val="accent3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69" d="100"/>
          <a:sy n="69" d="100"/>
        </p:scale>
        <p:origin x="564" y="78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on.kisti.re.kr/commons/util/originalView.do?cn=JAKO200634514812360&amp;dbt=JAKO&amp;koi=KISTI1.1003/JNL.JAKO200634514812360" TargetMode="External"/><Relationship Id="rId2" Type="http://schemas.openxmlformats.org/officeDocument/2006/relationships/hyperlink" Target="https://brunch.co.kr/@pacama/60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kfsp-datazoom.or.kr/international01.d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data/3049990/fileData.do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b="1" dirty="0" smtClean="0"/>
              <a:t>계획서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작성자 </a:t>
            </a:r>
            <a:r>
              <a:rPr lang="en-US" altLang="ko-KR"/>
              <a:t>:</a:t>
            </a:r>
            <a:r>
              <a:rPr lang="ko-KR" altLang="en-US"/>
              <a:t> 이경민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문제정의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09601" y="1697015"/>
            <a:ext cx="420990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행복하지 않은 한국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한국인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그 이유는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sz="2000" b="1" i="0" strike="noStrike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ea typeface="궁서"/>
              <a:cs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096000" y="1817370"/>
            <a:ext cx="5204348" cy="12315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26일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한국생명존중희망재단과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통계청에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따르면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</a:p>
          <a:p>
            <a:pPr algn="l">
              <a:defRPr/>
            </a:pP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지난해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1∼12월 '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고의적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자해'로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인한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사망자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수는</a:t>
            </a:r>
            <a:r>
              <a:rPr lang="ko-KR" altLang="en-US"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1만4천439명으로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잠정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</a:t>
            </a: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집계됐다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. </a:t>
            </a:r>
          </a:p>
          <a:p>
            <a:pPr algn="l">
              <a:defRPr/>
            </a:pPr>
            <a:r>
              <a:rPr sz="1500" b="0" i="0" strike="noStrike" dirty="0" err="1" smtClean="0">
                <a:solidFill>
                  <a:srgbClr val="A6A6A6"/>
                </a:solidFill>
                <a:latin typeface="Arial"/>
                <a:ea typeface="Pretendard"/>
              </a:rPr>
              <a:t>작년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 한 해 </a:t>
            </a:r>
            <a:endParaRPr sz="1500" b="1" i="0" strike="noStrike" dirty="0" smtClean="0">
              <a:solidFill>
                <a:srgbClr val="FF0000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sz="1500" b="1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하루</a:t>
            </a:r>
            <a:r>
              <a:rPr sz="1500" b="1" i="0" strike="noStrike" dirty="0" smtClean="0">
                <a:solidFill>
                  <a:srgbClr val="FF0000"/>
                </a:solidFill>
                <a:latin typeface="Arial"/>
                <a:ea typeface="Pretendard"/>
              </a:rPr>
              <a:t> 40명(39.5명) </a:t>
            </a:r>
            <a:r>
              <a:rPr sz="1500" b="1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가까운</a:t>
            </a:r>
            <a:r>
              <a:rPr sz="1500" b="1" i="0" strike="noStrike" dirty="0" smtClean="0">
                <a:solidFill>
                  <a:srgbClr val="FF0000"/>
                </a:solidFill>
                <a:latin typeface="Arial"/>
                <a:ea typeface="Pretendard"/>
              </a:rPr>
              <a:t> </a:t>
            </a:r>
            <a:r>
              <a:rPr sz="1500" b="1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사람이</a:t>
            </a:r>
            <a:r>
              <a:rPr sz="1500" b="1" i="0" strike="noStrike" dirty="0" smtClean="0">
                <a:solidFill>
                  <a:srgbClr val="FF0000"/>
                </a:solidFill>
                <a:latin typeface="Arial"/>
                <a:ea typeface="Pretendard"/>
              </a:rPr>
              <a:t> </a:t>
            </a:r>
            <a:r>
              <a:rPr sz="1500" b="1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스스로</a:t>
            </a:r>
            <a:r>
              <a:rPr sz="1500" b="1" i="0" strike="noStrike" dirty="0" smtClean="0">
                <a:solidFill>
                  <a:srgbClr val="FF0000"/>
                </a:solidFill>
                <a:latin typeface="Arial"/>
                <a:ea typeface="Pretendard"/>
              </a:rPr>
              <a:t> </a:t>
            </a:r>
            <a:r>
              <a:rPr sz="1500" b="1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목숨을</a:t>
            </a:r>
            <a:r>
              <a:rPr sz="1500" b="1" i="0" strike="noStrike" dirty="0" smtClean="0">
                <a:solidFill>
                  <a:srgbClr val="FF0000"/>
                </a:solidFill>
                <a:latin typeface="Arial"/>
                <a:ea typeface="Pretendard"/>
              </a:rPr>
              <a:t> </a:t>
            </a:r>
            <a:r>
              <a:rPr sz="1500" b="1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끊은</a:t>
            </a:r>
            <a:r>
              <a:rPr sz="1500" b="1" i="0" strike="noStrike" dirty="0" smtClean="0">
                <a:solidFill>
                  <a:srgbClr val="FF0000"/>
                </a:solidFill>
                <a:latin typeface="Arial"/>
                <a:ea typeface="Pretendard"/>
              </a:rPr>
              <a:t> </a:t>
            </a:r>
            <a:r>
              <a:rPr sz="1500" b="1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것</a:t>
            </a:r>
            <a:r>
              <a:rPr sz="1500" b="0" i="0" strike="noStrike" dirty="0" err="1" smtClean="0">
                <a:solidFill>
                  <a:srgbClr val="FF0000"/>
                </a:solidFill>
                <a:latin typeface="Arial"/>
                <a:ea typeface="Pretendard"/>
              </a:rPr>
              <a:t>이다</a:t>
            </a:r>
            <a:r>
              <a:rPr sz="1500" b="0" i="0" strike="noStrike" dirty="0" smtClean="0">
                <a:solidFill>
                  <a:srgbClr val="A6A6A6"/>
                </a:solidFill>
                <a:latin typeface="Arial"/>
                <a:ea typeface="Pretendard"/>
              </a:rPr>
              <a:t>.</a:t>
            </a:r>
            <a:endParaRPr sz="1500" b="0" i="0" strike="noStrike" dirty="0">
              <a:solidFill>
                <a:srgbClr val="A6A6A6"/>
              </a:solidFill>
              <a:latin typeface="Arial"/>
              <a:ea typeface="Pretendard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37960" y="3972880"/>
            <a:ext cx="4209906" cy="64130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출처 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:</a:t>
            </a:r>
            <a:r>
              <a:rPr lang="ko-KR" altLang="en-US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 연합뉴스 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[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하루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 40명 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스스로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 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목숨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 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끊었다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…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작년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 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자살건수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 13년 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만에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 </a:t>
            </a:r>
            <a:r>
              <a:rPr lang="en-US" altLang="ko-KR" sz="1200" b="0" i="0" strike="noStrike" dirty="0" err="1">
                <a:solidFill>
                  <a:schemeClr val="accent3"/>
                </a:solidFill>
                <a:latin typeface="Arial"/>
                <a:ea typeface="Pretendard"/>
              </a:rPr>
              <a:t>최대</a:t>
            </a: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]</a:t>
            </a:r>
          </a:p>
          <a:p>
            <a:pPr algn="l">
              <a:defRPr/>
            </a:pPr>
            <a:r>
              <a:rPr lang="en-US" altLang="ko-KR" sz="1200" b="0" i="0" strike="noStrike" dirty="0">
                <a:solidFill>
                  <a:schemeClr val="accent3"/>
                </a:solidFill>
                <a:latin typeface="Arial"/>
                <a:ea typeface="Pretendard"/>
              </a:rPr>
              <a:t>https://www.yna.co.kr/view/AKR20250226151200530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096000" y="3183161"/>
            <a:ext cx="5195204" cy="280461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lIns="360045" tIns="360045" rIns="360045" bIns="360045">
            <a:spAutoFit/>
          </a:bodyPr>
          <a:lstStyle/>
          <a:p>
            <a:pPr algn="l">
              <a:defRPr/>
            </a:pPr>
            <a:r>
              <a:rPr kumimoji="0" lang="ko-KR" altLang="en-US" sz="1500" b="1" i="0" u="none" strike="noStrike" kern="1200" cap="none" spc="0" normalizeH="0" baseline="0" dirty="0" err="1">
                <a:solidFill>
                  <a:srgbClr val="111111"/>
                </a:solidFill>
                <a:latin typeface="Arial"/>
                <a:ea typeface="Pretendard"/>
              </a:rPr>
              <a:t>과제목표</a:t>
            </a:r>
            <a:endParaRPr kumimoji="0" lang="ko-KR" altLang="en-US" sz="1500" b="1" i="0" u="none" strike="noStrike" kern="1200" cap="none" spc="0" normalizeH="0" baseline="0" dirty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endParaRPr kumimoji="0" lang="ko-KR" altLang="en-US" sz="1500" b="1" i="0" u="none" strike="noStrike" kern="1200" cap="none" spc="0" normalizeH="0" baseline="0" dirty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lang="ko-KR" altLang="en-US" sz="1500" dirty="0" smtClean="0">
                <a:solidFill>
                  <a:srgbClr val="111111"/>
                </a:solidFill>
                <a:latin typeface="Arial"/>
                <a:ea typeface="Pretendard"/>
              </a:rPr>
              <a:t>행복지수가 낮은 한국의 사회문제인 우울증</a:t>
            </a:r>
            <a:r>
              <a:rPr lang="en-US" altLang="ko-KR" sz="1500" dirty="0" smtClean="0">
                <a:solidFill>
                  <a:srgbClr val="111111"/>
                </a:solidFill>
                <a:latin typeface="Arial"/>
                <a:ea typeface="Pretendard"/>
              </a:rPr>
              <a:t>, </a:t>
            </a:r>
            <a:r>
              <a:rPr lang="ko-KR" altLang="en-US" sz="1500" dirty="0" err="1" smtClean="0">
                <a:solidFill>
                  <a:srgbClr val="111111"/>
                </a:solidFill>
                <a:latin typeface="Arial"/>
                <a:ea typeface="Pretendard"/>
              </a:rPr>
              <a:t>자살등의</a:t>
            </a:r>
            <a:r>
              <a:rPr lang="ko-KR" altLang="en-US" sz="1500" dirty="0" smtClean="0">
                <a:solidFill>
                  <a:srgbClr val="111111"/>
                </a:solidFill>
                <a:latin typeface="Arial"/>
                <a:ea typeface="Pretendard"/>
              </a:rPr>
              <a:t> 문제의 경각심을 가지고 행복은 무엇인지 생각해 보기 </a:t>
            </a:r>
            <a:r>
              <a:rPr lang="ko-KR" altLang="en-US" sz="1500" dirty="0" err="1" smtClean="0">
                <a:solidFill>
                  <a:srgbClr val="111111"/>
                </a:solidFill>
                <a:latin typeface="Arial"/>
                <a:ea typeface="Pretendard"/>
              </a:rPr>
              <a:t>행복지수와</a:t>
            </a:r>
            <a:r>
              <a:rPr lang="ko-KR" altLang="en-US" sz="1500" dirty="0" smtClean="0">
                <a:solidFill>
                  <a:srgbClr val="111111"/>
                </a:solidFill>
                <a:latin typeface="Arial"/>
                <a:ea typeface="Pretendard"/>
              </a:rPr>
              <a:t> </a:t>
            </a:r>
            <a:r>
              <a:rPr kumimoji="0" lang="ko-KR" altLang="en-US" sz="1500" b="0" i="0" u="none" strike="noStrike" kern="1200" cap="none" spc="0" normalizeH="0" baseline="0" dirty="0" smtClean="0">
                <a:solidFill>
                  <a:srgbClr val="111111"/>
                </a:solidFill>
                <a:latin typeface="Arial"/>
                <a:ea typeface="Pretendard"/>
              </a:rPr>
              <a:t>상관관계에 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111111"/>
                </a:solidFill>
                <a:latin typeface="Arial"/>
                <a:ea typeface="Pretendard"/>
              </a:rPr>
              <a:t>있는 요인을 </a:t>
            </a:r>
            <a:r>
              <a:rPr kumimoji="0" lang="ko-KR" altLang="en-US" sz="1500" b="0" i="0" u="none" strike="noStrike" kern="1200" cap="none" spc="0" normalizeH="0" baseline="0" dirty="0" smtClean="0">
                <a:solidFill>
                  <a:srgbClr val="111111"/>
                </a:solidFill>
                <a:latin typeface="Arial"/>
                <a:ea typeface="Pretendard"/>
              </a:rPr>
              <a:t>분석하여</a:t>
            </a:r>
            <a:endParaRPr kumimoji="0" lang="en-US" altLang="ko-KR" sz="1500" b="0" i="0" u="none" strike="noStrike" kern="1200" cap="none" spc="0" normalizeH="0" baseline="0" dirty="0" smtClean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lang="ko-KR" altLang="en-US" sz="1500" dirty="0" smtClean="0">
                <a:solidFill>
                  <a:srgbClr val="111111"/>
                </a:solidFill>
                <a:latin typeface="Arial"/>
                <a:ea typeface="Pretendard"/>
              </a:rPr>
              <a:t>행복에 대한 공식을 </a:t>
            </a:r>
            <a:r>
              <a:rPr lang="ko-KR" altLang="en-US" sz="1500" dirty="0" err="1" smtClean="0">
                <a:solidFill>
                  <a:srgbClr val="111111"/>
                </a:solidFill>
                <a:latin typeface="Arial"/>
                <a:ea typeface="Pretendard"/>
              </a:rPr>
              <a:t>도출할것이다</a:t>
            </a:r>
            <a:r>
              <a:rPr lang="en-US" altLang="ko-KR" sz="1500" dirty="0" smtClean="0">
                <a:solidFill>
                  <a:srgbClr val="111111"/>
                </a:solidFill>
                <a:latin typeface="Arial"/>
                <a:ea typeface="Pretendard"/>
              </a:rPr>
              <a:t>.</a:t>
            </a:r>
          </a:p>
          <a:p>
            <a:pPr algn="l">
              <a:defRPr/>
            </a:pPr>
            <a:endParaRPr kumimoji="0" lang="ko-KR" altLang="en-US" sz="1500" b="0" i="0" u="none" strike="noStrike" kern="1200" cap="none" spc="0" normalizeH="0" baseline="0" dirty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 dirty="0">
                <a:solidFill>
                  <a:srgbClr val="111111"/>
                </a:solidFill>
                <a:latin typeface="Arial"/>
                <a:ea typeface="Pretendard"/>
              </a:rPr>
              <a:t>더 나아가 </a:t>
            </a:r>
            <a:r>
              <a:rPr kumimoji="0" lang="ko-KR" altLang="en-US" sz="1500" b="0" i="0" u="none" strike="noStrike" kern="1200" cap="none" spc="0" normalizeH="0" baseline="0" dirty="0" smtClean="0">
                <a:solidFill>
                  <a:srgbClr val="111111"/>
                </a:solidFill>
                <a:latin typeface="Arial"/>
                <a:ea typeface="Pretendard"/>
              </a:rPr>
              <a:t>행복을 측정하여 </a:t>
            </a:r>
            <a:endParaRPr kumimoji="0" lang="ko-KR" altLang="en-US" sz="1500" b="0" i="0" u="none" strike="noStrike" kern="1200" cap="none" spc="0" normalizeH="0" baseline="0" dirty="0">
              <a:solidFill>
                <a:srgbClr val="111111"/>
              </a:solidFill>
              <a:latin typeface="Arial"/>
              <a:ea typeface="Pretendard"/>
            </a:endParaRPr>
          </a:p>
          <a:p>
            <a:pPr algn="l">
              <a:defRPr/>
            </a:pPr>
            <a:r>
              <a:rPr kumimoji="0" lang="ko-KR" altLang="en-US" sz="1500" b="0" i="0" u="none" strike="noStrike" kern="1200" cap="none" spc="0" normalizeH="0" baseline="0" dirty="0">
                <a:solidFill>
                  <a:srgbClr val="111111"/>
                </a:solidFill>
                <a:latin typeface="Arial"/>
                <a:ea typeface="Pretendard"/>
              </a:rPr>
              <a:t>개인의 행복 </a:t>
            </a:r>
            <a:r>
              <a:rPr kumimoji="0" lang="ko-KR" altLang="en-US" sz="1500" b="1" i="0" u="none" strike="noStrike" kern="1200" cap="none" spc="0" normalizeH="0" baseline="0" dirty="0">
                <a:solidFill>
                  <a:srgbClr val="111111"/>
                </a:solidFill>
                <a:latin typeface="Arial"/>
                <a:ea typeface="Pretendard"/>
              </a:rPr>
              <a:t>솔루션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111111"/>
                </a:solidFill>
                <a:latin typeface="Arial"/>
                <a:ea typeface="Pretendard"/>
              </a:rPr>
              <a:t>을 제공하고자 한다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111111"/>
                </a:solidFill>
                <a:latin typeface="Arial"/>
                <a:ea typeface="Pretendard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2208209"/>
            <a:ext cx="4720527" cy="171023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b="50449"/>
          <a:stretch/>
        </p:blipFill>
        <p:spPr>
          <a:xfrm>
            <a:off x="609599" y="4668617"/>
            <a:ext cx="4962007" cy="18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4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용어 및 배경지식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ko-KR" altLang="en-US" sz="2000" b="1">
                <a:latin typeface="Pretendard"/>
                <a:ea typeface="Pretendard"/>
              </a:rPr>
              <a:t>행복지수란</a:t>
            </a:r>
            <a:r>
              <a:rPr lang="en-US" altLang="ko-KR" sz="2000" b="1">
                <a:latin typeface="Pretendard"/>
                <a:ea typeface="Pretendard"/>
              </a:rPr>
              <a:t>?</a:t>
            </a: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국내총생산(GDP) 등 경제적 가치 뿐 아니라 </a:t>
            </a:r>
            <a:r>
              <a:rPr lang="ko-KR" altLang="en-US" sz="1500" b="1">
                <a:latin typeface="Pretendard"/>
                <a:ea typeface="Pretendard"/>
              </a:rPr>
              <a:t>삶의 만족도, 미래에 대한 기대, 실업률, 자부심, 희망, 사랑</a:t>
            </a:r>
            <a:r>
              <a:rPr lang="ko-KR" altLang="en-US" sz="1500">
                <a:latin typeface="Pretendard"/>
                <a:ea typeface="Pretendard"/>
              </a:rPr>
              <a:t> 등 인간의 행복과 삶의 질을 포괄적으로 고려해서 측정하는 지표.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solidFill>
                  <a:srgbClr val="FF0000"/>
                </a:solidFill>
                <a:latin typeface="Pretendard"/>
                <a:ea typeface="Pretendard"/>
              </a:rPr>
              <a:t>행복을 객관적으로 계량화하는 것이 어렵다는 점은 과제로 남아있다</a:t>
            </a:r>
            <a:r>
              <a:rPr lang="en-US" altLang="ko-KR" sz="1500">
                <a:solidFill>
                  <a:srgbClr val="FF0000"/>
                </a:solidFill>
                <a:latin typeface="Pretendard"/>
                <a:ea typeface="Pretendard"/>
              </a:rPr>
              <a:t>.</a:t>
            </a:r>
            <a:r>
              <a:rPr lang="ko-KR" altLang="en-US" sz="1500">
                <a:solidFill>
                  <a:srgbClr val="FF0000"/>
                </a:solidFill>
                <a:latin typeface="Pretendard"/>
                <a:ea typeface="Pretendard"/>
              </a:rPr>
              <a:t> </a:t>
            </a: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행복지수의공식을 이용하여 그 행복지수를 측정할수있다</a:t>
            </a:r>
            <a:r>
              <a:rPr lang="en-US" altLang="ko-KR" sz="1500">
                <a:latin typeface="Pretendard"/>
                <a:ea typeface="Pretendard"/>
              </a:rPr>
              <a:t>!</a:t>
            </a:r>
          </a:p>
          <a:p>
            <a:pPr marL="0" indent="0">
              <a:buNone/>
              <a:defRPr/>
            </a:pPr>
            <a:endParaRPr lang="en-US" altLang="ko-KR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2000" b="1">
                <a:latin typeface="Pretendard"/>
                <a:ea typeface="Pretendard"/>
              </a:rPr>
              <a:t>해외기준 행복 공식</a:t>
            </a:r>
            <a:endParaRPr lang="en-US" altLang="ko-KR" sz="2000" b="1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 </a:t>
            </a:r>
            <a:r>
              <a:rPr lang="en-US" altLang="ko-KR" sz="1500">
                <a:latin typeface="Pretendard"/>
                <a:ea typeface="Pretendard"/>
              </a:rPr>
              <a:t>=</a:t>
            </a:r>
            <a:r>
              <a:rPr lang="ko-KR" altLang="en-US" sz="1500">
                <a:latin typeface="Pretendard"/>
                <a:ea typeface="Pretendard"/>
              </a:rPr>
              <a:t> </a:t>
            </a:r>
            <a:r>
              <a:rPr lang="en-US" altLang="ko-KR" sz="1500">
                <a:latin typeface="Pretendard"/>
                <a:ea typeface="Pretendard"/>
              </a:rPr>
              <a:t>P + 5H + 3H</a:t>
            </a:r>
          </a:p>
          <a:p>
            <a:pPr marL="0" indent="0">
              <a:buNone/>
              <a:defRPr/>
            </a:pPr>
            <a:r>
              <a:rPr lang="en-US" altLang="ko-KR" sz="1500">
                <a:latin typeface="Pretendard"/>
                <a:ea typeface="Pretendard"/>
              </a:rPr>
              <a:t># P:</a:t>
            </a:r>
            <a:r>
              <a:rPr lang="ko-KR" altLang="en-US" sz="1500">
                <a:latin typeface="Pretendard"/>
                <a:ea typeface="Pretendard"/>
              </a:rPr>
              <a:t> 내 성격과 인생관</a:t>
            </a:r>
            <a:r>
              <a:rPr lang="en-US" altLang="ko-KR" sz="1500">
                <a:latin typeface="Pretendard"/>
                <a:ea typeface="Pretendard"/>
              </a:rPr>
              <a:t>,</a:t>
            </a:r>
            <a:r>
              <a:rPr lang="ko-KR" altLang="en-US" sz="1500">
                <a:latin typeface="Pretendard"/>
                <a:ea typeface="Pretendard"/>
              </a:rPr>
              <a:t> </a:t>
            </a:r>
            <a:r>
              <a:rPr lang="en-US" altLang="ko-KR" sz="1500">
                <a:latin typeface="Pretendard"/>
                <a:ea typeface="Pretendard"/>
              </a:rPr>
              <a:t>E:</a:t>
            </a:r>
            <a:r>
              <a:rPr lang="ko-KR" altLang="en-US" sz="1500">
                <a:latin typeface="Pretendard"/>
                <a:ea typeface="Pretendard"/>
              </a:rPr>
              <a:t>기본요소</a:t>
            </a:r>
            <a:r>
              <a:rPr lang="en-US" altLang="ko-KR" sz="1500">
                <a:latin typeface="Pretendard"/>
                <a:ea typeface="Pretendard"/>
              </a:rPr>
              <a:t>,</a:t>
            </a:r>
            <a:r>
              <a:rPr lang="ko-KR" altLang="en-US" sz="1500">
                <a:latin typeface="Pretendard"/>
                <a:ea typeface="Pretendard"/>
              </a:rPr>
              <a:t> </a:t>
            </a:r>
            <a:r>
              <a:rPr lang="en-US" altLang="ko-KR" sz="1500">
                <a:latin typeface="Pretendard"/>
                <a:ea typeface="Pretendard"/>
              </a:rPr>
              <a:t>H:</a:t>
            </a:r>
            <a:r>
              <a:rPr lang="ko-KR" altLang="en-US" sz="1500">
                <a:latin typeface="Pretendard"/>
                <a:ea typeface="Pretendard"/>
              </a:rPr>
              <a:t>추구하는야망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2000" b="1">
                <a:latin typeface="Pretendard"/>
                <a:ea typeface="Pretendard"/>
              </a:rPr>
              <a:t>한국기준 행복 공식</a:t>
            </a:r>
            <a:endParaRPr lang="en-US" altLang="ko-KR" sz="2000" b="1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행복=2.5생존+2.5관계+5성장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한국 기준의 공식을 사용하는 이유로는 한국인이 생각하는 행복의 요인과 서구문화에서 중요시되는 행복요인이 다르기때문에 </a:t>
            </a:r>
          </a:p>
          <a:p>
            <a:pPr marL="0" indent="0">
              <a:buNone/>
              <a:defRPr/>
            </a:pPr>
            <a:r>
              <a:rPr lang="ko-KR" altLang="en-US" sz="1500">
                <a:latin typeface="Pretendard"/>
                <a:ea typeface="Pretendard"/>
              </a:rPr>
              <a:t>한국조사연구학회에서 개발된 </a:t>
            </a:r>
            <a:r>
              <a:rPr lang="ko-KR" altLang="en-US" sz="1500" b="1">
                <a:latin typeface="Pretendard"/>
                <a:ea typeface="Pretendard"/>
              </a:rPr>
              <a:t>한국형 행복 공식을 이용</a:t>
            </a:r>
            <a:r>
              <a:rPr lang="ko-KR" altLang="en-US" sz="1500">
                <a:latin typeface="Pretendard"/>
                <a:ea typeface="Pretendard"/>
              </a:rPr>
              <a:t>할것이다</a:t>
            </a: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ko-KR" altLang="en-US" sz="1500">
              <a:latin typeface="Pretendard"/>
              <a:ea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599" y="4517821"/>
            <a:ext cx="4655483" cy="1557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출처 </a:t>
            </a:r>
            <a:r>
              <a:rPr lang="en-US" altLang="ko-KR" sz="120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 당신의 행복지수는 얼마나 나올까요 </a:t>
            </a:r>
            <a:r>
              <a:rPr lang="en-US" altLang="ko-KR" sz="1200">
                <a:solidFill>
                  <a:srgbClr val="BFBFBF"/>
                </a:solidFill>
                <a:latin typeface="Pretendard"/>
                <a:ea typeface="Pretendard"/>
              </a:rPr>
              <a:t>?</a:t>
            </a:r>
            <a:r>
              <a:rPr lang="ko-KR" altLang="en-US" sz="1200">
                <a:solidFill>
                  <a:srgbClr val="BFBFBF"/>
                </a:solidFill>
                <a:latin typeface="Pretendard"/>
                <a:ea typeface="Pretendard"/>
              </a:rPr>
              <a:t> </a:t>
            </a:r>
            <a:endParaRPr lang="en-US" altLang="en-US" sz="1200">
              <a:solidFill>
                <a:srgbClr val="BFBFBF"/>
              </a:solidFill>
              <a:latin typeface="Pretendard"/>
              <a:ea typeface="Pretendard"/>
              <a:hlinkClick r:id="rId2"/>
            </a:endParaRPr>
          </a:p>
          <a:p>
            <a:pPr>
              <a:defRPr/>
            </a:pPr>
            <a:r>
              <a:rPr lang="en-US" altLang="en-US" sz="1200">
                <a:solidFill>
                  <a:srgbClr val="BFBFBF"/>
                </a:solidFill>
                <a:latin typeface="Pretendard"/>
                <a:ea typeface="Pretendard"/>
                <a:hlinkClick r:id="rId2"/>
              </a:rPr>
              <a:t>https://brunch.co.kr/@pacama/608</a:t>
            </a:r>
            <a:endParaRPr lang="en-US" altLang="en-US" sz="1200">
              <a:solidFill>
                <a:srgbClr val="BFBFBF"/>
              </a:solidFill>
              <a:latin typeface="Pretendard"/>
              <a:ea typeface="Pretendard"/>
            </a:endParaRPr>
          </a:p>
          <a:p>
            <a:pPr>
              <a:defRPr/>
            </a:pPr>
            <a:endParaRPr lang="en-US" altLang="en-US" sz="1200">
              <a:solidFill>
                <a:srgbClr val="BFBFBF"/>
              </a:solidFill>
              <a:latin typeface="Pretendard"/>
              <a:ea typeface="Pretendard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행복 공식 한국기준 출처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 한국인의 행복지수 공식 개발 논문</a:t>
            </a: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  <a:hlinkClick r:id="rId3"/>
              </a:rPr>
              <a:t>https://scienceon.kisti.re.kr/commons/util/originalView.do?cn=JAKO200634514812360&amp;dbt=JAKO&amp;koi=KISTI1.1003%2FJNL.JAKO200634514812360</a:t>
            </a:r>
            <a:endParaRPr kumimoji="0" lang="en-US" altLang="en-US" sz="1200" b="0" i="0" u="none" strike="noStrike" kern="1200" cap="none" spc="0" normalizeH="0" baseline="0">
              <a:solidFill>
                <a:srgbClr val="BFBFBF"/>
              </a:solidFill>
              <a:latin typeface="Pretendard"/>
              <a:ea typeface="Pretendard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en-US" sz="1200" b="0" i="0" u="none" strike="noStrike" kern="1200" cap="none" spc="0" normalizeH="0" baseline="0">
              <a:solidFill>
                <a:srgbClr val="BFBFBF"/>
              </a:solidFill>
              <a:latin typeface="Pretendard"/>
              <a:ea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97618" y="6068752"/>
            <a:ext cx="5486398" cy="263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srgbClr val="BFBFBF"/>
              </a:solidFill>
              <a:latin typeface="Pretendard"/>
              <a:ea typeface="Pretendard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21657" y="1921808"/>
            <a:ext cx="3933825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657" y="1654771"/>
            <a:ext cx="3658721" cy="267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[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한국인의 행복지수 공식 개발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BFBFBF"/>
                </a:solidFill>
                <a:latin typeface="Pretendard"/>
                <a:ea typeface="Pretendard"/>
              </a:rPr>
              <a:t>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행복지수 측정의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417638"/>
            <a:ext cx="5486397" cy="47085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500" b="1" dirty="0" err="1">
                <a:latin typeface="Pretendard"/>
                <a:ea typeface="Pretendard"/>
              </a:rPr>
              <a:t>행복지수</a:t>
            </a:r>
            <a:r>
              <a:rPr lang="ko-KR" altLang="en-US" sz="1500" dirty="0" err="1">
                <a:latin typeface="Pretendard"/>
                <a:ea typeface="Pretendard"/>
              </a:rPr>
              <a:t>과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ko-KR" altLang="en-US" sz="1500" b="1" dirty="0">
                <a:latin typeface="Pretendard"/>
                <a:ea typeface="Pretendard"/>
              </a:rPr>
              <a:t>자살률</a:t>
            </a:r>
            <a:r>
              <a:rPr lang="ko-KR" altLang="en-US" sz="1500" dirty="0">
                <a:latin typeface="Pretendard"/>
                <a:ea typeface="Pretendard"/>
              </a:rPr>
              <a:t>의 상관관계가 </a:t>
            </a:r>
            <a:r>
              <a:rPr lang="ko-KR" altLang="en-US" sz="1500" dirty="0" err="1">
                <a:latin typeface="Pretendard"/>
                <a:ea typeface="Pretendard"/>
              </a:rPr>
              <a:t>있을것이라고</a:t>
            </a:r>
            <a:r>
              <a:rPr lang="ko-KR" altLang="en-US" sz="1500" dirty="0">
                <a:latin typeface="Pretendard"/>
                <a:ea typeface="Pretendard"/>
              </a:rPr>
              <a:t> 예상함</a:t>
            </a: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 err="1">
                <a:latin typeface="Pretendard"/>
                <a:ea typeface="Pretendard"/>
              </a:rPr>
              <a:t>귀무가설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: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ko-KR" altLang="en-US" sz="1500" dirty="0" err="1">
                <a:latin typeface="Pretendard"/>
                <a:ea typeface="Pretendard"/>
              </a:rPr>
              <a:t>행복지수와</a:t>
            </a:r>
            <a:r>
              <a:rPr lang="ko-KR" altLang="en-US" sz="1500" dirty="0">
                <a:latin typeface="Pretendard"/>
                <a:ea typeface="Pretendard"/>
              </a:rPr>
              <a:t> 자살률의 상관관계가 없다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500" dirty="0" err="1">
                <a:latin typeface="Pretendard"/>
                <a:ea typeface="Pretendard"/>
              </a:rPr>
              <a:t>대립가설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: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ko-KR" altLang="en-US" sz="1500" dirty="0" err="1">
                <a:latin typeface="Pretendard"/>
                <a:ea typeface="Pretendard"/>
              </a:rPr>
              <a:t>행복지수와</a:t>
            </a:r>
            <a:r>
              <a:rPr lang="ko-KR" altLang="en-US" sz="1500" dirty="0">
                <a:latin typeface="Pretendard"/>
                <a:ea typeface="Pretendard"/>
              </a:rPr>
              <a:t> 자살률의 상관관계가 있다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최신자료 </a:t>
            </a:r>
            <a:r>
              <a:rPr lang="en-US" altLang="ko-KR" sz="1500" dirty="0">
                <a:latin typeface="Pretendard"/>
                <a:ea typeface="Pretendard"/>
              </a:rPr>
              <a:t>2023</a:t>
            </a:r>
            <a:r>
              <a:rPr lang="ko-KR" altLang="en-US" sz="1500" dirty="0">
                <a:latin typeface="Pretendard"/>
                <a:ea typeface="Pretendard"/>
              </a:rPr>
              <a:t>년 </a:t>
            </a:r>
            <a:r>
              <a:rPr lang="ko-KR" altLang="en-US" sz="1500" dirty="0" err="1">
                <a:latin typeface="Pretendard"/>
                <a:ea typeface="Pretendard"/>
              </a:rPr>
              <a:t>행복지수와</a:t>
            </a:r>
            <a:r>
              <a:rPr lang="ko-KR" altLang="en-US" sz="1500" dirty="0">
                <a:latin typeface="Pretendard"/>
                <a:ea typeface="Pretendard"/>
              </a:rPr>
              <a:t> 자살률의 상관관계 분석을 </a:t>
            </a:r>
            <a:r>
              <a:rPr lang="ko-KR" altLang="en-US" sz="1500" dirty="0" err="1">
                <a:latin typeface="Pretendard"/>
                <a:ea typeface="Pretendard"/>
              </a:rPr>
              <a:t>진행하도록한다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500" dirty="0" err="1">
                <a:latin typeface="Pretendard"/>
                <a:ea typeface="Pretendard"/>
              </a:rPr>
              <a:t>p_value</a:t>
            </a:r>
            <a:r>
              <a:rPr lang="en-US" altLang="ko-KR" sz="1500" dirty="0">
                <a:latin typeface="Pretendard"/>
                <a:ea typeface="Pretendard"/>
              </a:rPr>
              <a:t> </a:t>
            </a:r>
            <a:r>
              <a:rPr lang="ko-KR" altLang="en-US" sz="1500" dirty="0">
                <a:latin typeface="Pretendard"/>
                <a:ea typeface="Pretendard"/>
              </a:rPr>
              <a:t>도출과 양</a:t>
            </a:r>
            <a:r>
              <a:rPr lang="en-US" altLang="ko-KR" sz="1500" dirty="0">
                <a:latin typeface="Pretendard"/>
                <a:ea typeface="Pretendard"/>
              </a:rPr>
              <a:t>/</a:t>
            </a:r>
            <a:r>
              <a:rPr lang="ko-KR" altLang="en-US" sz="1500" dirty="0">
                <a:latin typeface="Pretendard"/>
                <a:ea typeface="Pretendard"/>
              </a:rPr>
              <a:t>음의 상관관계를 위해서 </a:t>
            </a:r>
            <a:r>
              <a:rPr lang="ko-KR" altLang="en-US" sz="1500" dirty="0" err="1">
                <a:latin typeface="Pretendard"/>
                <a:ea typeface="Pretendard"/>
              </a:rPr>
              <a:t>피어슨</a:t>
            </a:r>
            <a:r>
              <a:rPr lang="ko-KR" altLang="en-US" sz="1500" dirty="0">
                <a:latin typeface="Pretendard"/>
                <a:ea typeface="Pretendard"/>
              </a:rPr>
              <a:t> 상관관계로 분석을 </a:t>
            </a:r>
            <a:r>
              <a:rPr lang="ko-KR" altLang="en-US" sz="1500" dirty="0" err="1">
                <a:latin typeface="Pretendard"/>
                <a:ea typeface="Pretendard"/>
              </a:rPr>
              <a:t>진행할것이다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ko-KR" altLang="en-US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행복과 관련된 테스트 앱을 만들기 위해</a:t>
            </a:r>
          </a:p>
          <a:p>
            <a:pPr marL="0" indent="0">
              <a:buNone/>
              <a:defRPr/>
            </a:pPr>
            <a:r>
              <a:rPr lang="ko-KR" altLang="en-US" sz="1500" b="1" dirty="0">
                <a:latin typeface="Pretendard"/>
                <a:ea typeface="Pretendard"/>
              </a:rPr>
              <a:t>행복에 대한 수치를 계산</a:t>
            </a:r>
            <a:r>
              <a:rPr lang="ko-KR" altLang="en-US" sz="1500" dirty="0">
                <a:latin typeface="Pretendard"/>
                <a:ea typeface="Pretendard"/>
              </a:rPr>
              <a:t>할 필요성이 있다고 판단함</a:t>
            </a:r>
          </a:p>
          <a:p>
            <a:pPr marL="0" indent="0">
              <a:buNone/>
              <a:defRPr/>
            </a:pPr>
            <a:endParaRPr lang="ko-KR" altLang="en-US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행복 공식</a:t>
            </a:r>
            <a:r>
              <a:rPr lang="en-US" altLang="ko-KR" sz="1500" dirty="0">
                <a:latin typeface="Pretendard"/>
                <a:ea typeface="Pretendard"/>
              </a:rPr>
              <a:t>(</a:t>
            </a:r>
            <a:r>
              <a:rPr lang="ko-KR" altLang="en-US" sz="1500" dirty="0">
                <a:latin typeface="Pretendard"/>
                <a:ea typeface="Pretendard"/>
              </a:rPr>
              <a:t>출처 </a:t>
            </a:r>
            <a:r>
              <a:rPr lang="en-US" altLang="ko-KR" sz="1500" dirty="0">
                <a:latin typeface="Pretendard"/>
                <a:ea typeface="Pretendard"/>
              </a:rPr>
              <a:t>:</a:t>
            </a:r>
            <a:r>
              <a:rPr lang="ko-KR" altLang="en-US" sz="1500" dirty="0">
                <a:latin typeface="Pretendard"/>
                <a:ea typeface="Pretendard"/>
              </a:rPr>
              <a:t> 한국조사연구학회 공식</a:t>
            </a:r>
            <a:r>
              <a:rPr lang="en-US" altLang="ko-KR" sz="1500" dirty="0">
                <a:latin typeface="Pretendard"/>
                <a:ea typeface="Pretendard"/>
              </a:rPr>
              <a:t>)</a:t>
            </a:r>
            <a:r>
              <a:rPr lang="ko-KR" altLang="en-US" sz="1500" dirty="0">
                <a:latin typeface="Pretendard"/>
                <a:ea typeface="Pretendard"/>
              </a:rPr>
              <a:t>을 이용하여 개인의 행복 수치를 측정하도록 한다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ko-KR" altLang="en-US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ko-KR" altLang="en-US" sz="1500" dirty="0">
              <a:latin typeface="Pretendard"/>
              <a:ea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1" y="5350828"/>
            <a:ext cx="5486397" cy="77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ko-KR" altLang="en-US" sz="1500">
                <a:solidFill>
                  <a:srgbClr val="BFBFBF"/>
                </a:solidFill>
                <a:latin typeface="Pretendard"/>
                <a:ea typeface="Pretendard"/>
              </a:rPr>
              <a:t>논문 출처 </a:t>
            </a:r>
            <a:r>
              <a:rPr lang="en-US" altLang="ko-KR" sz="1500">
                <a:solidFill>
                  <a:srgbClr val="BFBFBF"/>
                </a:solidFill>
                <a:latin typeface="Pretendard"/>
                <a:ea typeface="Pretendard"/>
              </a:rPr>
              <a:t>:</a:t>
            </a:r>
            <a:r>
              <a:rPr lang="ko-KR" altLang="en-US" sz="1500">
                <a:solidFill>
                  <a:srgbClr val="BFBFBF"/>
                </a:solidFill>
                <a:latin typeface="Pretendard"/>
                <a:ea typeface="Pretendard"/>
              </a:rPr>
              <a:t>  </a:t>
            </a:r>
            <a:r>
              <a:rPr lang="en-US" altLang="en-US" sz="1500">
                <a:solidFill>
                  <a:srgbClr val="BFBFBF"/>
                </a:solidFill>
                <a:latin typeface="Pretendard"/>
                <a:ea typeface="Pretendard"/>
              </a:rPr>
              <a:t>[국내논문] 한국인의 행복지수 공식 개발</a:t>
            </a:r>
          </a:p>
          <a:p>
            <a:pPr marL="0" indent="0">
              <a:buNone/>
              <a:defRPr/>
            </a:pPr>
            <a:r>
              <a:rPr lang="en-US" altLang="en-US" sz="1500">
                <a:solidFill>
                  <a:srgbClr val="BFBFBF"/>
                </a:solidFill>
                <a:latin typeface="Pretendard"/>
                <a:ea typeface="Pretendard"/>
              </a:rPr>
              <a:t>https://scienceon.kisti.re.kr/srch/selectPORSrchArticle.do?cn=JAKO200634514812360&amp;dbt=NART</a:t>
            </a:r>
            <a:endParaRPr lang="ko-KR" altLang="en-US">
              <a:solidFill>
                <a:srgbClr val="BFBFBF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데이터의 범위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23592"/>
            <a:ext cx="5486397" cy="361081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ko-KR" sz="1700" b="1" dirty="0">
                <a:latin typeface="Pretendard"/>
                <a:ea typeface="Pretendard"/>
              </a:rPr>
              <a:t>1.</a:t>
            </a:r>
            <a:r>
              <a:rPr lang="ko-KR" altLang="en-US" sz="1700" b="1" dirty="0">
                <a:latin typeface="Pretendard"/>
                <a:ea typeface="Pretendard"/>
              </a:rPr>
              <a:t> 나라별 </a:t>
            </a:r>
            <a:r>
              <a:rPr lang="ko-KR" altLang="en-US" sz="1700" b="1" dirty="0" smtClean="0">
                <a:latin typeface="Pretendard"/>
                <a:ea typeface="Pretendard"/>
              </a:rPr>
              <a:t>행복지수 </a:t>
            </a:r>
            <a:r>
              <a:rPr lang="ko-KR" altLang="en-US" sz="1700" b="1" dirty="0" smtClean="0">
                <a:latin typeface="Pretendard"/>
                <a:ea typeface="Pretendard"/>
              </a:rPr>
              <a:t>비교 </a:t>
            </a:r>
            <a:r>
              <a:rPr lang="ko-KR" altLang="en-US" sz="1700" b="1" dirty="0">
                <a:latin typeface="Pretendard"/>
                <a:ea typeface="Pretendard"/>
              </a:rPr>
              <a:t>분석을 </a:t>
            </a:r>
            <a:r>
              <a:rPr lang="ko-KR" altLang="en-US" sz="1700" b="1" dirty="0" err="1">
                <a:latin typeface="Pretendard"/>
                <a:ea typeface="Pretendard"/>
              </a:rPr>
              <a:t>할때</a:t>
            </a:r>
            <a:r>
              <a:rPr lang="ko-KR" altLang="en-US" sz="1700" b="1" dirty="0">
                <a:latin typeface="Pretendard"/>
                <a:ea typeface="Pretendard"/>
              </a:rPr>
              <a:t> </a:t>
            </a:r>
            <a:r>
              <a:rPr lang="en-US" altLang="ko-KR" sz="1700" b="1" dirty="0" smtClean="0">
                <a:latin typeface="Pretendard"/>
                <a:ea typeface="Pretendard"/>
              </a:rPr>
              <a:t>OECD </a:t>
            </a:r>
            <a:r>
              <a:rPr lang="ko-KR" altLang="en-US" sz="1700" b="1" dirty="0" smtClean="0">
                <a:latin typeface="Pretendard"/>
                <a:ea typeface="Pretendard"/>
              </a:rPr>
              <a:t>주요 국가 채택</a:t>
            </a:r>
            <a:r>
              <a:rPr lang="ko-KR" altLang="en-US" sz="1500" dirty="0" smtClean="0">
                <a:latin typeface="Pretendard"/>
                <a:ea typeface="Pretendard"/>
              </a:rPr>
              <a:t> </a:t>
            </a:r>
            <a:endParaRPr lang="ko-KR" altLang="en-US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경각심을 주는 것이 목적이므로 너무 많은 </a:t>
            </a:r>
            <a:r>
              <a:rPr lang="ko-KR" altLang="en-US" sz="1500" dirty="0" err="1">
                <a:latin typeface="Pretendard"/>
                <a:ea typeface="Pretendard"/>
              </a:rPr>
              <a:t>비교군이</a:t>
            </a:r>
            <a:r>
              <a:rPr lang="ko-KR" altLang="en-US" sz="1500" dirty="0">
                <a:latin typeface="Pretendard"/>
                <a:ea typeface="Pretendard"/>
              </a:rPr>
              <a:t> 사용될 필요가 없음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  <a:r>
              <a:rPr lang="ko-KR" altLang="en-US" sz="1500" dirty="0">
                <a:latin typeface="Pretendard"/>
                <a:ea typeface="Pretendard"/>
              </a:rPr>
              <a:t> 또한 </a:t>
            </a:r>
            <a:r>
              <a:rPr lang="ko-KR" altLang="en-US" sz="1500" dirty="0" smtClean="0">
                <a:latin typeface="Pretendard"/>
                <a:ea typeface="Pretendard"/>
              </a:rPr>
              <a:t>경제</a:t>
            </a:r>
            <a:r>
              <a:rPr lang="en-US" altLang="ko-KR" sz="1500" dirty="0" smtClean="0">
                <a:latin typeface="Pretendard"/>
                <a:ea typeface="Pretendard"/>
              </a:rPr>
              <a:t>&amp;</a:t>
            </a:r>
            <a:r>
              <a:rPr lang="ko-KR" altLang="en-US" sz="1500" dirty="0" smtClean="0">
                <a:latin typeface="Pretendard"/>
                <a:ea typeface="Pretendard"/>
              </a:rPr>
              <a:t>사회</a:t>
            </a:r>
            <a:r>
              <a:rPr lang="en-US" altLang="ko-KR" sz="1500" dirty="0" smtClean="0">
                <a:latin typeface="Pretendard"/>
                <a:ea typeface="Pretendard"/>
              </a:rPr>
              <a:t>&amp;</a:t>
            </a:r>
            <a:r>
              <a:rPr lang="ko-KR" altLang="en-US" sz="1500" dirty="0" smtClean="0">
                <a:latin typeface="Pretendard"/>
                <a:ea typeface="Pretendard"/>
              </a:rPr>
              <a:t>문화</a:t>
            </a:r>
            <a:r>
              <a:rPr lang="en-US" altLang="ko-KR" sz="1500" dirty="0" smtClean="0">
                <a:latin typeface="Pretendard"/>
                <a:ea typeface="Pretendard"/>
              </a:rPr>
              <a:t>&amp;</a:t>
            </a:r>
            <a:r>
              <a:rPr lang="ko-KR" altLang="en-US" sz="1500" dirty="0" smtClean="0">
                <a:latin typeface="Pretendard"/>
                <a:ea typeface="Pretendard"/>
              </a:rPr>
              <a:t>정치적으로 </a:t>
            </a:r>
            <a:r>
              <a:rPr lang="ko-KR" altLang="en-US" sz="1500" dirty="0">
                <a:latin typeface="Pretendard"/>
                <a:ea typeface="Pretendard"/>
              </a:rPr>
              <a:t>한국과 유사한 국가들로 구성하여 </a:t>
            </a:r>
            <a:r>
              <a:rPr lang="ko-KR" altLang="en-US" sz="1500" dirty="0" smtClean="0">
                <a:latin typeface="Pretendard"/>
                <a:ea typeface="Pretendard"/>
              </a:rPr>
              <a:t>행복지수를 </a:t>
            </a:r>
            <a:r>
              <a:rPr lang="ko-KR" altLang="en-US" sz="1500" dirty="0" err="1">
                <a:latin typeface="Pretendard"/>
                <a:ea typeface="Pretendard"/>
              </a:rPr>
              <a:t>비교하는것이</a:t>
            </a:r>
            <a:r>
              <a:rPr lang="ko-KR" altLang="en-US" sz="1500" dirty="0">
                <a:latin typeface="Pretendard"/>
                <a:ea typeface="Pretendard"/>
              </a:rPr>
              <a:t> 타당하다고 사료됨</a:t>
            </a:r>
            <a:r>
              <a:rPr lang="en-US" altLang="ko-KR" sz="1500" dirty="0">
                <a:latin typeface="Pretendard"/>
                <a:ea typeface="Pretendard"/>
              </a:rPr>
              <a:t>(</a:t>
            </a:r>
            <a:r>
              <a:rPr lang="ko-KR" altLang="en-US" sz="1500" dirty="0" err="1">
                <a:latin typeface="Pretendard"/>
                <a:ea typeface="Pretendard"/>
              </a:rPr>
              <a:t>문헌참고</a:t>
            </a:r>
            <a:r>
              <a:rPr lang="en-US" altLang="ko-KR" sz="1500" dirty="0">
                <a:latin typeface="Pretendard"/>
                <a:ea typeface="Pretendard"/>
              </a:rPr>
              <a:t>)</a:t>
            </a:r>
          </a:p>
          <a:p>
            <a:pPr marL="0" indent="0">
              <a:buNone/>
              <a:defRPr/>
            </a:pPr>
            <a:endParaRPr lang="ko-KR" altLang="en-US" sz="12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en-US" altLang="ko-KR" sz="1700" dirty="0">
                <a:latin typeface="Pretendard"/>
                <a:ea typeface="Pretendard"/>
              </a:rPr>
              <a:t>2.</a:t>
            </a:r>
            <a:r>
              <a:rPr lang="ko-KR" altLang="en-US" sz="1700" dirty="0">
                <a:latin typeface="Pretendard"/>
                <a:ea typeface="Pretendard"/>
              </a:rPr>
              <a:t> 가용 데이터들은 </a:t>
            </a:r>
            <a:r>
              <a:rPr lang="en-US" altLang="ko-KR" sz="1700" b="1" dirty="0" smtClean="0">
                <a:latin typeface="Pretendard"/>
                <a:ea typeface="Pretendard"/>
              </a:rPr>
              <a:t>2024</a:t>
            </a:r>
            <a:r>
              <a:rPr lang="ko-KR" altLang="en-US" sz="1700" b="1" dirty="0" smtClean="0">
                <a:latin typeface="Pretendard"/>
                <a:ea typeface="Pretendard"/>
              </a:rPr>
              <a:t>년 </a:t>
            </a:r>
            <a:r>
              <a:rPr lang="ko-KR" altLang="en-US" sz="1700" b="1" dirty="0">
                <a:latin typeface="Pretendard"/>
                <a:ea typeface="Pretendard"/>
              </a:rPr>
              <a:t>이전의 자료 이용</a:t>
            </a:r>
            <a:r>
              <a:rPr lang="ko-KR" altLang="en-US" sz="1700" dirty="0">
                <a:latin typeface="Pretendard"/>
                <a:ea typeface="Pretendard"/>
              </a:rPr>
              <a:t> 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en-US" altLang="ko-KR" sz="1500" dirty="0" smtClean="0">
                <a:latin typeface="Pretendard"/>
                <a:ea typeface="Pretendard"/>
              </a:rPr>
              <a:t>2025</a:t>
            </a:r>
            <a:r>
              <a:rPr lang="ko-KR" altLang="en-US" sz="1500" dirty="0">
                <a:latin typeface="Pretendard"/>
                <a:ea typeface="Pretendard"/>
              </a:rPr>
              <a:t>년의 데이터의 불충분으로 </a:t>
            </a:r>
            <a:r>
              <a:rPr lang="en-US" altLang="ko-KR" sz="1500" dirty="0" smtClean="0">
                <a:latin typeface="Pretendard"/>
                <a:ea typeface="Pretendard"/>
              </a:rPr>
              <a:t>2024</a:t>
            </a:r>
            <a:r>
              <a:rPr lang="ko-KR" altLang="en-US" sz="1500" dirty="0" smtClean="0">
                <a:latin typeface="Pretendard"/>
                <a:ea typeface="Pretendard"/>
              </a:rPr>
              <a:t>년 </a:t>
            </a:r>
            <a:r>
              <a:rPr lang="ko-KR" altLang="en-US" sz="1500" dirty="0" err="1">
                <a:latin typeface="Pretendard"/>
                <a:ea typeface="Pretendard"/>
              </a:rPr>
              <a:t>이전자료를</a:t>
            </a:r>
            <a:r>
              <a:rPr lang="ko-KR" altLang="en-US" sz="1500" dirty="0">
                <a:latin typeface="Pretendard"/>
                <a:ea typeface="Pretendard"/>
              </a:rPr>
              <a:t> 이용함</a:t>
            </a: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en-US" altLang="ko-KR" sz="1700" dirty="0">
                <a:latin typeface="Pretendard"/>
                <a:ea typeface="Pretendard"/>
              </a:rPr>
              <a:t>3.</a:t>
            </a:r>
            <a:r>
              <a:rPr lang="ko-KR" altLang="en-US" sz="1700" dirty="0">
                <a:latin typeface="Pretendard"/>
                <a:ea typeface="Pretendard"/>
              </a:rPr>
              <a:t> </a:t>
            </a:r>
            <a:r>
              <a:rPr lang="ko-KR" altLang="en-US" sz="1700" b="1" dirty="0">
                <a:latin typeface="Pretendard"/>
                <a:ea typeface="Pretendard"/>
              </a:rPr>
              <a:t>한국에 국한한 행복지수 </a:t>
            </a:r>
            <a:r>
              <a:rPr lang="ko-KR" altLang="en-US" sz="1700" b="1" dirty="0" err="1">
                <a:latin typeface="Pretendard"/>
                <a:ea typeface="Pretendard"/>
              </a:rPr>
              <a:t>공식사용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행복지수측정서비스는 한국지역에서 서비스 할 계획이므로 </a:t>
            </a:r>
          </a:p>
          <a:p>
            <a:pPr marL="0" indent="0">
              <a:buNone/>
              <a:defRPr/>
            </a:pPr>
            <a:r>
              <a:rPr lang="ko-KR" altLang="en-US" sz="1500" dirty="0" err="1">
                <a:latin typeface="Pretendard"/>
                <a:ea typeface="Pretendard"/>
              </a:rPr>
              <a:t>한국기준의</a:t>
            </a:r>
            <a:r>
              <a:rPr lang="ko-KR" altLang="en-US" sz="1500" dirty="0">
                <a:latin typeface="Pretendard"/>
                <a:ea typeface="Pretendard"/>
              </a:rPr>
              <a:t> 행복지수공식을 이용함</a:t>
            </a:r>
            <a:endParaRPr lang="en-US" altLang="ko-KR" sz="1500" dirty="0">
              <a:latin typeface="Pretendard"/>
              <a:ea typeface="Pretendard"/>
            </a:endParaRPr>
          </a:p>
          <a:p>
            <a:pPr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>
              <a:defRPr/>
            </a:pPr>
            <a:endParaRPr lang="en-US" altLang="ko-KR" sz="1500" dirty="0">
              <a:latin typeface="Pretendard"/>
              <a:ea typeface="Pretendar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가용 데이터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199"/>
            <a:ext cx="5486397" cy="4547682"/>
          </a:xfrm>
        </p:spPr>
        <p:txBody>
          <a:bodyPr>
            <a:normAutofit/>
          </a:bodyPr>
          <a:lstStyle/>
          <a:p>
            <a:pPr>
              <a:buAutoNum type="arabicPeriod"/>
              <a:defRPr/>
            </a:pPr>
            <a:r>
              <a:rPr lang="ko-KR" altLang="en-US" sz="1500" b="1" dirty="0" smtClean="0"/>
              <a:t>다른 나라와의 행복지수 비교</a:t>
            </a:r>
            <a:endParaRPr lang="en-US" altLang="ko-KR" sz="1500" b="1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나라별 </a:t>
            </a:r>
            <a:r>
              <a:rPr lang="ko-KR" altLang="en-US" sz="1500" dirty="0"/>
              <a:t>자살률 데이터를 시각화하여 </a:t>
            </a:r>
          </a:p>
          <a:p>
            <a:pPr marL="0" indent="0">
              <a:buNone/>
              <a:defRPr/>
            </a:pPr>
            <a:r>
              <a:rPr lang="ko-KR" altLang="en-US" sz="1500" dirty="0"/>
              <a:t>한국의 자살률이 어떠한 양상을 띄고 있는지 분석</a:t>
            </a:r>
          </a:p>
          <a:p>
            <a:pPr marL="0" indent="0">
              <a:buNone/>
              <a:defRPr/>
            </a:pPr>
            <a:r>
              <a:rPr lang="ko-KR" altLang="en-US" sz="1500" dirty="0"/>
              <a:t>출처 </a:t>
            </a:r>
            <a:r>
              <a:rPr lang="en-US" altLang="ko-KR" sz="1500" dirty="0"/>
              <a:t>:</a:t>
            </a:r>
            <a:r>
              <a:rPr lang="ko-KR" altLang="en-US" sz="1500" dirty="0"/>
              <a:t> 국제 자살 통계 </a:t>
            </a:r>
            <a:r>
              <a:rPr lang="en-US" altLang="ko-KR" sz="1500" dirty="0"/>
              <a:t>(</a:t>
            </a:r>
            <a:r>
              <a:rPr lang="ko-KR" altLang="en-US" sz="1500" dirty="0"/>
              <a:t>단위: OECD </a:t>
            </a:r>
            <a:r>
              <a:rPr lang="ko-KR" altLang="en-US" sz="1500" dirty="0" err="1"/>
              <a:t>표준인구</a:t>
            </a:r>
            <a:r>
              <a:rPr lang="ko-KR" altLang="en-US" sz="1500" dirty="0"/>
              <a:t> 10만 명당 명</a:t>
            </a:r>
            <a:r>
              <a:rPr lang="en-US" altLang="ko-KR" sz="1500" dirty="0"/>
              <a:t>)</a:t>
            </a:r>
          </a:p>
          <a:p>
            <a:pPr marL="0" indent="0">
              <a:buNone/>
              <a:defRPr/>
            </a:pPr>
            <a:r>
              <a:rPr lang="en-US" altLang="en-US" sz="1500" dirty="0">
                <a:hlinkClick r:id="rId2"/>
              </a:rPr>
              <a:t>https://</a:t>
            </a:r>
            <a:r>
              <a:rPr lang="en-US" altLang="en-US" sz="1500" dirty="0" smtClean="0">
                <a:hlinkClick r:id="rId2"/>
              </a:rPr>
              <a:t>kfsp-datazoom.or.kr/international01.do</a:t>
            </a:r>
            <a:endParaRPr lang="en-US" alt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가용 </a:t>
            </a:r>
            <a:r>
              <a:rPr lang="ko-KR" altLang="en-US" dirty="0" smtClean="0"/>
              <a:t>데이터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199"/>
            <a:ext cx="5846618" cy="503307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altLang="ko-KR" sz="1500" dirty="0"/>
              <a:t>2.</a:t>
            </a:r>
            <a:r>
              <a:rPr lang="ko-KR" altLang="en-US" sz="1500" dirty="0"/>
              <a:t> </a:t>
            </a:r>
            <a:r>
              <a:rPr lang="ko-KR" altLang="en-US" sz="1500" b="1" dirty="0" err="1"/>
              <a:t>행복지수와</a:t>
            </a:r>
            <a:r>
              <a:rPr lang="ko-KR" altLang="en-US" sz="1500" b="1" dirty="0"/>
              <a:t> 자살률의 관계분석</a:t>
            </a:r>
            <a:r>
              <a:rPr lang="en-US" altLang="ko-KR" sz="1500" dirty="0"/>
              <a:t>(2023</a:t>
            </a:r>
            <a:r>
              <a:rPr lang="ko-KR" altLang="en-US" sz="1500" dirty="0" err="1"/>
              <a:t>년기준</a:t>
            </a:r>
            <a:r>
              <a:rPr lang="en-US" altLang="ko-KR" sz="1500" dirty="0"/>
              <a:t>)</a:t>
            </a:r>
          </a:p>
          <a:p>
            <a:pPr marL="0" indent="0">
              <a:buNone/>
              <a:defRPr/>
            </a:pPr>
            <a:endParaRPr lang="ko-KR" altLang="en-US" sz="1500" dirty="0"/>
          </a:p>
          <a:p>
            <a:pPr marL="0" indent="0">
              <a:buNone/>
              <a:defRPr/>
            </a:pPr>
            <a:r>
              <a:rPr lang="en-US" altLang="ko-KR" sz="1500" dirty="0"/>
              <a:t>-</a:t>
            </a:r>
            <a:r>
              <a:rPr lang="ko-KR" altLang="en-US" sz="1500" dirty="0"/>
              <a:t> 행복지수를 측정하여 솔루션을 </a:t>
            </a:r>
            <a:r>
              <a:rPr lang="ko-KR" altLang="en-US" sz="1500" dirty="0" err="1"/>
              <a:t>제공할것인데</a:t>
            </a:r>
            <a:r>
              <a:rPr lang="ko-KR" altLang="en-US" sz="1500" dirty="0"/>
              <a:t> </a:t>
            </a:r>
            <a:r>
              <a:rPr lang="ko-KR" altLang="en-US" sz="1500" b="1" dirty="0" err="1"/>
              <a:t>행복지수와</a:t>
            </a:r>
            <a:r>
              <a:rPr lang="ko-KR" altLang="en-US" sz="1500" b="1" dirty="0"/>
              <a:t> 자살률의 상관관계를 분석</a:t>
            </a:r>
            <a:r>
              <a:rPr lang="ko-KR" altLang="en-US" sz="1500" dirty="0"/>
              <a:t>하여 유의미한 결과가 있는지 확인한다</a:t>
            </a:r>
            <a:r>
              <a:rPr lang="en-US" altLang="ko-KR" sz="1500" dirty="0"/>
              <a:t>.</a:t>
            </a:r>
          </a:p>
          <a:p>
            <a:pPr marL="0" indent="0">
              <a:buNone/>
              <a:defRPr/>
            </a:pP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/>
              <a:t>-</a:t>
            </a:r>
            <a:r>
              <a:rPr lang="ko-KR" altLang="en-US" sz="1500" dirty="0"/>
              <a:t> </a:t>
            </a:r>
            <a:r>
              <a:rPr lang="ko-KR" altLang="en-US" sz="1500" dirty="0" smtClean="0"/>
              <a:t> </a:t>
            </a:r>
            <a:r>
              <a:rPr lang="ko-KR" altLang="en-US" sz="1500" dirty="0" smtClean="0">
                <a:solidFill>
                  <a:srgbClr val="FF0000"/>
                </a:solidFill>
              </a:rPr>
              <a:t>행복지수 </a:t>
            </a:r>
            <a:r>
              <a:rPr lang="ko-KR" altLang="en-US" sz="1500" dirty="0">
                <a:solidFill>
                  <a:srgbClr val="FF0000"/>
                </a:solidFill>
              </a:rPr>
              <a:t>테스트 서비스를 </a:t>
            </a:r>
            <a:r>
              <a:rPr lang="ko-KR" altLang="en-US" sz="1500" dirty="0" err="1">
                <a:solidFill>
                  <a:srgbClr val="FF0000"/>
                </a:solidFill>
              </a:rPr>
              <a:t>만들어야하는</a:t>
            </a:r>
            <a:r>
              <a:rPr lang="ko-KR" altLang="en-US" sz="1500" dirty="0">
                <a:solidFill>
                  <a:srgbClr val="FF0000"/>
                </a:solidFill>
              </a:rPr>
              <a:t> 이유</a:t>
            </a:r>
            <a:r>
              <a:rPr lang="ko-KR" altLang="en-US" sz="1500" dirty="0"/>
              <a:t>를 연결짓기위해서 상관관계 분석이 필수적이다</a:t>
            </a:r>
            <a:r>
              <a:rPr lang="en-US" altLang="ko-KR" sz="1500" dirty="0"/>
              <a:t>.</a:t>
            </a:r>
          </a:p>
          <a:p>
            <a:pPr marL="0" indent="0">
              <a:buNone/>
              <a:defRPr/>
            </a:pP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 smtClean="0"/>
              <a:t>- </a:t>
            </a:r>
            <a:r>
              <a:rPr lang="ko-KR" altLang="en-US" sz="1500" dirty="0" smtClean="0"/>
              <a:t>독립변수 </a:t>
            </a:r>
            <a:r>
              <a:rPr lang="ko-KR" altLang="en-US" sz="1500" dirty="0"/>
              <a:t>자살률</a:t>
            </a:r>
            <a:r>
              <a:rPr lang="en-US" altLang="ko-KR" sz="1500" dirty="0"/>
              <a:t>,</a:t>
            </a:r>
            <a:r>
              <a:rPr lang="ko-KR" altLang="en-US" sz="1500" dirty="0"/>
              <a:t> 종속변수 행복지수 </a:t>
            </a:r>
            <a:r>
              <a:rPr lang="en-US" altLang="ko-KR" sz="1500" dirty="0"/>
              <a:t>2023</a:t>
            </a:r>
            <a:r>
              <a:rPr lang="ko-KR" altLang="en-US" sz="1500" dirty="0"/>
              <a:t>년 총 자살률과 행복지수를 비교분석 부족하다면 </a:t>
            </a:r>
            <a:r>
              <a:rPr lang="en-US" altLang="ko-KR" sz="1500" dirty="0"/>
              <a:t>2020</a:t>
            </a:r>
            <a:r>
              <a:rPr lang="ko-KR" altLang="en-US" sz="1500" dirty="0"/>
              <a:t>년부터 </a:t>
            </a:r>
            <a:r>
              <a:rPr lang="en-US" altLang="ko-KR" sz="1500" dirty="0"/>
              <a:t>2023</a:t>
            </a:r>
            <a:r>
              <a:rPr lang="ko-KR" altLang="en-US" sz="1500" dirty="0"/>
              <a:t>년의 평균을 내서 </a:t>
            </a:r>
            <a:r>
              <a:rPr lang="ko-KR" altLang="en-US" sz="1500" dirty="0" smtClean="0"/>
              <a:t>분석하기</a:t>
            </a:r>
            <a:endParaRPr lang="en-US" altLang="ko-KR" sz="1500" dirty="0" smtClean="0"/>
          </a:p>
          <a:p>
            <a:pPr>
              <a:buFontTx/>
              <a:buChar char="-"/>
              <a:defRPr/>
            </a:pPr>
            <a:endParaRPr lang="en-US" altLang="ko-KR" sz="1500" dirty="0"/>
          </a:p>
          <a:p>
            <a:pPr marL="0" indent="0">
              <a:buNone/>
            </a:pPr>
            <a:r>
              <a:rPr lang="en-US" altLang="ko-KR" sz="1600" dirty="0" smtClean="0"/>
              <a:t>1) </a:t>
            </a:r>
            <a:r>
              <a:rPr lang="ko-KR" altLang="en-US" sz="1600" b="1" dirty="0" smtClean="0"/>
              <a:t>2019~2024</a:t>
            </a:r>
            <a:r>
              <a:rPr lang="ko-KR" altLang="en-US" sz="1600" b="1" dirty="0"/>
              <a:t>년 </a:t>
            </a:r>
            <a:r>
              <a:rPr lang="ko-KR" altLang="en-US" sz="1600" b="1" dirty="0" err="1"/>
              <a:t>행복지수와</a:t>
            </a:r>
            <a:r>
              <a:rPr lang="ko-KR" altLang="en-US" sz="1600" b="1" dirty="0"/>
              <a:t> 세부 지표</a:t>
            </a:r>
          </a:p>
          <a:p>
            <a:pPr marL="0" indent="0">
              <a:buNone/>
            </a:pPr>
            <a:r>
              <a:rPr lang="ko-KR" altLang="en-US" sz="1600" dirty="0"/>
              <a:t>(</a:t>
            </a:r>
            <a:r>
              <a:rPr lang="ko-KR" altLang="en-US" sz="1600" dirty="0" err="1"/>
              <a:t>결측값</a:t>
            </a:r>
            <a:r>
              <a:rPr lang="ko-KR" altLang="en-US" sz="1600" dirty="0"/>
              <a:t> 처리 및 필요 연도에 맞춰 전처리 필요)</a:t>
            </a:r>
            <a:endParaRPr lang="en-US" altLang="ko-KR" sz="1600" dirty="0"/>
          </a:p>
          <a:p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2 </a:t>
            </a:r>
            <a:r>
              <a:rPr lang="en-US" altLang="ko-KR" sz="1600" dirty="0" smtClean="0"/>
              <a:t>) </a:t>
            </a:r>
            <a:r>
              <a:rPr lang="en-US" altLang="ko-KR" sz="1600" b="1" dirty="0" smtClean="0"/>
              <a:t>23</a:t>
            </a:r>
            <a:r>
              <a:rPr lang="ko-KR" altLang="en-US" sz="1600" b="1" dirty="0"/>
              <a:t>년 </a:t>
            </a:r>
            <a:r>
              <a:rPr lang="ko-KR" altLang="en-US" sz="1600" b="1" dirty="0" err="1"/>
              <a:t>행복지수와</a:t>
            </a:r>
            <a:r>
              <a:rPr lang="ko-KR" altLang="en-US" sz="1600" b="1" dirty="0"/>
              <a:t> 세부 지표</a:t>
            </a:r>
          </a:p>
          <a:p>
            <a:pPr marL="0" indent="0">
              <a:buNone/>
            </a:pPr>
            <a:r>
              <a:rPr lang="ko-KR" altLang="en-US" sz="1600" dirty="0" smtClean="0"/>
              <a:t>위에 </a:t>
            </a:r>
            <a:r>
              <a:rPr lang="ko-KR" altLang="en-US" sz="1600" dirty="0"/>
              <a:t>데이터와 </a:t>
            </a:r>
            <a:r>
              <a:rPr lang="ko-KR" altLang="en-US" sz="1600" dirty="0" err="1"/>
              <a:t>세부지표가</a:t>
            </a:r>
            <a:r>
              <a:rPr lang="ko-KR" altLang="en-US" sz="1600" dirty="0"/>
              <a:t> 약간 달라서 사용시 통일화 전처리 필요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3</a:t>
            </a:r>
            <a:r>
              <a:rPr lang="en-US" altLang="ko-KR" sz="1600" b="1" dirty="0" smtClean="0"/>
              <a:t>) 2017</a:t>
            </a:r>
            <a:r>
              <a:rPr lang="ko-KR" altLang="en-US" sz="1600" b="1" dirty="0"/>
              <a:t>년</a:t>
            </a:r>
            <a:r>
              <a:rPr lang="en-US" altLang="ko-KR" sz="1600" b="1" dirty="0"/>
              <a:t>~2024</a:t>
            </a:r>
            <a:r>
              <a:rPr lang="ko-KR" altLang="en-US" sz="1600" b="1" dirty="0"/>
              <a:t>년 </a:t>
            </a:r>
            <a:r>
              <a:rPr lang="en-US" altLang="ko-KR" sz="1600" b="1" dirty="0"/>
              <a:t>OECD </a:t>
            </a:r>
            <a:r>
              <a:rPr lang="ko-KR" altLang="en-US" sz="1600" b="1" dirty="0"/>
              <a:t>국가 </a:t>
            </a:r>
            <a:r>
              <a:rPr lang="en-US" altLang="ko-KR" sz="1600" b="1" dirty="0"/>
              <a:t>10</a:t>
            </a:r>
            <a:r>
              <a:rPr lang="ko-KR" altLang="en-US" sz="1600" b="1" dirty="0"/>
              <a:t>만명 당 명으로 표시된 </a:t>
            </a:r>
            <a:r>
              <a:rPr lang="ko-KR" altLang="en-US" sz="1600" b="1" dirty="0" smtClean="0"/>
              <a:t>자살률</a:t>
            </a:r>
            <a:endParaRPr lang="en-US" altLang="ko-KR" sz="1600" b="1" dirty="0" smtClean="0"/>
          </a:p>
          <a:p>
            <a:pPr marL="0" indent="0">
              <a:buNone/>
            </a:pPr>
            <a:r>
              <a:rPr lang="en-US" altLang="ko-KR" sz="1600" dirty="0" smtClean="0"/>
              <a:t>(</a:t>
            </a:r>
            <a:r>
              <a:rPr lang="ko-KR" altLang="en-US" sz="1600" dirty="0" err="1"/>
              <a:t>결측값은</a:t>
            </a:r>
            <a:r>
              <a:rPr lang="ko-KR" altLang="en-US" sz="1600" dirty="0"/>
              <a:t> 따로 하나씩 검색하여 입력해야 할 듯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666" b="66289"/>
          <a:stretch/>
        </p:blipFill>
        <p:spPr>
          <a:xfrm>
            <a:off x="249382" y="1034139"/>
            <a:ext cx="4433455" cy="16837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94" b="49746"/>
          <a:stretch/>
        </p:blipFill>
        <p:spPr>
          <a:xfrm>
            <a:off x="249382" y="2769446"/>
            <a:ext cx="4462483" cy="16741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94"/>
          <a:stretch/>
        </p:blipFill>
        <p:spPr>
          <a:xfrm>
            <a:off x="249383" y="4495144"/>
            <a:ext cx="4364503" cy="213813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49383" y="4710544"/>
            <a:ext cx="1126836" cy="1922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103746" y="1215774"/>
            <a:ext cx="1126836" cy="1502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49383" y="2885352"/>
            <a:ext cx="1126836" cy="1558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가용 </a:t>
            </a:r>
            <a:r>
              <a:rPr lang="ko-KR" altLang="en-US" dirty="0" smtClean="0"/>
              <a:t>데이터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7625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ko-KR" sz="1500" b="1" dirty="0"/>
              <a:t>3.</a:t>
            </a:r>
            <a:r>
              <a:rPr lang="ko-KR" altLang="en-US" sz="1500" b="1" dirty="0"/>
              <a:t> </a:t>
            </a:r>
            <a:r>
              <a:rPr lang="ko-KR" altLang="en-US" sz="1500" b="1" dirty="0" smtClean="0"/>
              <a:t>연령대별 스트레스 요인을 분석하기 위한 자료</a:t>
            </a:r>
            <a:endParaRPr lang="en-US" altLang="ko-KR" sz="1500" b="1" dirty="0" smtClean="0"/>
          </a:p>
          <a:p>
            <a:pPr marL="0" indent="0">
              <a:buNone/>
              <a:defRPr/>
            </a:pP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가설 </a:t>
            </a:r>
            <a:r>
              <a:rPr lang="en-US" altLang="ko-KR" sz="1500" dirty="0" smtClean="0"/>
              <a:t>:  </a:t>
            </a:r>
            <a:r>
              <a:rPr lang="ko-KR" altLang="en-US" sz="1500" dirty="0" smtClean="0"/>
              <a:t>스트레스가 행복지수를 떨어뜨린다</a:t>
            </a:r>
            <a:r>
              <a:rPr lang="en-US" altLang="ko-KR" sz="1500" dirty="0" smtClean="0"/>
              <a:t>.</a:t>
            </a:r>
          </a:p>
          <a:p>
            <a:pPr marL="0" indent="0">
              <a:buNone/>
              <a:defRPr/>
            </a:pPr>
            <a:r>
              <a:rPr lang="ko-KR" altLang="en-US" sz="1500" dirty="0" smtClean="0"/>
              <a:t>스트레스요인과 </a:t>
            </a:r>
            <a:r>
              <a:rPr lang="ko-KR" altLang="en-US" sz="1500" dirty="0" err="1" smtClean="0"/>
              <a:t>행복지수의</a:t>
            </a:r>
            <a:r>
              <a:rPr lang="ko-KR" altLang="en-US" sz="1500" dirty="0" smtClean="0"/>
              <a:t> 상관관계를 알아야함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가설 </a:t>
            </a:r>
            <a:r>
              <a:rPr lang="ko-KR" altLang="en-US" sz="1500" dirty="0" err="1" smtClean="0"/>
              <a:t>입증방법</a:t>
            </a:r>
            <a:r>
              <a:rPr lang="ko-KR" altLang="en-US" sz="1500" dirty="0" smtClean="0"/>
              <a:t> 예시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 smtClean="0"/>
              <a:t>1. </a:t>
            </a:r>
            <a:r>
              <a:rPr lang="ko-KR" altLang="en-US" sz="1500" dirty="0" smtClean="0"/>
              <a:t>스트레스를 받는 요인 중에서 </a:t>
            </a: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자살로 이어질 가능성이 </a:t>
            </a: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몇 퍼센트인지 상관분석으로 상관관계 입증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en-US" altLang="ko-KR" sz="1500" dirty="0" smtClean="0"/>
              <a:t>2. </a:t>
            </a:r>
            <a:r>
              <a:rPr lang="ko-KR" altLang="en-US" sz="1500" dirty="0" smtClean="0"/>
              <a:t>스트레스를 받는다면 건강이 나빠지고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논문</a:t>
            </a:r>
            <a:r>
              <a:rPr lang="en-US" altLang="ko-KR" sz="1500" dirty="0" smtClean="0"/>
              <a:t>) </a:t>
            </a:r>
          </a:p>
          <a:p>
            <a:pPr marL="0" indent="0">
              <a:buNone/>
              <a:defRPr/>
            </a:pPr>
            <a:r>
              <a:rPr lang="ko-KR" altLang="en-US" sz="1500" dirty="0" smtClean="0"/>
              <a:t>건강이 나빠지면 </a:t>
            </a:r>
            <a:endParaRPr lang="en-US" altLang="ko-KR" sz="1500" dirty="0" smtClean="0"/>
          </a:p>
          <a:p>
            <a:pPr marL="0" indent="0">
              <a:buNone/>
              <a:defRPr/>
            </a:pPr>
            <a:r>
              <a:rPr lang="ko-KR" altLang="en-US" sz="1500" dirty="0" smtClean="0"/>
              <a:t>인간 삶의 전체적인 행복지수가 낮아짐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b="1" dirty="0"/>
          </a:p>
          <a:p>
            <a:pPr marL="0" indent="0">
              <a:buNone/>
              <a:defRPr/>
            </a:pPr>
            <a:r>
              <a:rPr lang="ko-KR" altLang="en-US" sz="1500" dirty="0" smtClean="0"/>
              <a:t>결론 </a:t>
            </a:r>
            <a:r>
              <a:rPr lang="en-US" altLang="ko-KR" sz="1500" dirty="0" smtClean="0"/>
              <a:t>: </a:t>
            </a:r>
            <a:r>
              <a:rPr lang="ko-KR" altLang="en-US" sz="1500" dirty="0" smtClean="0"/>
              <a:t>연령대별로 </a:t>
            </a:r>
            <a:r>
              <a:rPr lang="ko-KR" altLang="en-US" sz="1500" dirty="0"/>
              <a:t>도출된 스트레스 요인 데이터를 가지고 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ko-KR" altLang="en-US" sz="1500" b="1" dirty="0" smtClean="0">
                <a:solidFill>
                  <a:srgbClr val="FF0000"/>
                </a:solidFill>
              </a:rPr>
              <a:t>연령대별 </a:t>
            </a:r>
            <a:r>
              <a:rPr lang="ko-KR" altLang="en-US" sz="1500" b="1" dirty="0">
                <a:solidFill>
                  <a:srgbClr val="FF0000"/>
                </a:solidFill>
              </a:rPr>
              <a:t>솔루션을 제시</a:t>
            </a:r>
            <a:endParaRPr lang="ko-KR" altLang="en-US" sz="1500" dirty="0"/>
          </a:p>
          <a:p>
            <a:pPr marL="0" indent="0">
              <a:buNone/>
              <a:defRPr/>
            </a:pPr>
            <a:endParaRPr lang="ko-KR" altLang="en-US" sz="1500" dirty="0"/>
          </a:p>
          <a:p>
            <a:pPr marL="0" indent="0">
              <a:buNone/>
              <a:defRPr/>
            </a:pPr>
            <a:endParaRPr lang="ko-KR" altLang="en-US" sz="15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32" y="1453835"/>
            <a:ext cx="4938352" cy="375212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459344" y="1681815"/>
            <a:ext cx="2998356" cy="352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230" y="2698518"/>
            <a:ext cx="3165497" cy="38195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727957" y="3152983"/>
            <a:ext cx="643277" cy="2724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분석 결과와 활용 기획 예시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52596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 sz="1500" b="1" dirty="0">
                <a:latin typeface="Pretendard"/>
                <a:ea typeface="Pretendard"/>
              </a:rPr>
              <a:t>분석결과예시 </a:t>
            </a:r>
            <a:r>
              <a:rPr lang="en-US" altLang="ko-KR" sz="1500" b="1" dirty="0">
                <a:latin typeface="Pretendard"/>
                <a:ea typeface="Pretendard"/>
              </a:rPr>
              <a:t>1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한국의 </a:t>
            </a:r>
            <a:r>
              <a:rPr lang="ko-KR" altLang="en-US" sz="1500" dirty="0" smtClean="0">
                <a:latin typeface="Pretendard"/>
                <a:ea typeface="Pretendard"/>
              </a:rPr>
              <a:t>스트레스 요인 </a:t>
            </a:r>
            <a:r>
              <a:rPr lang="en-US" altLang="ko-KR" sz="1500" dirty="0">
                <a:latin typeface="Pretendard"/>
                <a:ea typeface="Pretendard"/>
              </a:rPr>
              <a:t>1</a:t>
            </a:r>
            <a:r>
              <a:rPr lang="ko-KR" altLang="en-US" sz="1500" dirty="0">
                <a:latin typeface="Pretendard"/>
                <a:ea typeface="Pretendard"/>
              </a:rPr>
              <a:t>위는 </a:t>
            </a:r>
            <a:r>
              <a:rPr lang="en-US" altLang="ko-KR" sz="1500" dirty="0">
                <a:latin typeface="Pretendard"/>
                <a:ea typeface="Pretendard"/>
              </a:rPr>
              <a:t>00,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2</a:t>
            </a:r>
            <a:r>
              <a:rPr lang="ko-KR" altLang="en-US" sz="1500" dirty="0">
                <a:latin typeface="Pretendard"/>
                <a:ea typeface="Pretendard"/>
              </a:rPr>
              <a:t>위는 </a:t>
            </a:r>
            <a:r>
              <a:rPr lang="en-US" altLang="ko-KR" sz="1500" dirty="0">
                <a:latin typeface="Pretendard"/>
                <a:ea typeface="Pretendard"/>
              </a:rPr>
              <a:t>00,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3</a:t>
            </a:r>
            <a:r>
              <a:rPr lang="ko-KR" altLang="en-US" sz="1500" dirty="0">
                <a:latin typeface="Pretendard"/>
                <a:ea typeface="Pretendard"/>
              </a:rPr>
              <a:t>위는 </a:t>
            </a:r>
            <a:r>
              <a:rPr lang="en-US" altLang="ko-KR" sz="1500" dirty="0">
                <a:latin typeface="Pretendard"/>
                <a:ea typeface="Pretendard"/>
              </a:rPr>
              <a:t>00</a:t>
            </a:r>
            <a:r>
              <a:rPr lang="ko-KR" altLang="en-US" sz="1500" dirty="0">
                <a:latin typeface="Pretendard"/>
                <a:ea typeface="Pretendard"/>
              </a:rPr>
              <a:t>이다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연령대별로 분석한 결과는 </a:t>
            </a:r>
            <a:r>
              <a:rPr lang="en-US" altLang="ko-KR" sz="1500" dirty="0">
                <a:latin typeface="Pretendard"/>
                <a:ea typeface="Pretendard"/>
              </a:rPr>
              <a:t>0~10</a:t>
            </a:r>
            <a:r>
              <a:rPr lang="ko-KR" altLang="en-US" sz="1500" dirty="0">
                <a:latin typeface="Pretendard"/>
                <a:ea typeface="Pretendard"/>
              </a:rPr>
              <a:t>대는 </a:t>
            </a:r>
            <a:r>
              <a:rPr lang="en-US" altLang="ko-KR" sz="1500" dirty="0">
                <a:latin typeface="Pretendard"/>
                <a:ea typeface="Pretendard"/>
              </a:rPr>
              <a:t>XXX,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  <a:r>
              <a:rPr lang="en-US" altLang="ko-KR" sz="1500" dirty="0">
                <a:latin typeface="Pretendard"/>
                <a:ea typeface="Pretendard"/>
              </a:rPr>
              <a:t>20~30</a:t>
            </a:r>
            <a:r>
              <a:rPr lang="ko-KR" altLang="en-US" sz="1500" dirty="0">
                <a:latin typeface="Pretendard"/>
                <a:ea typeface="Pretendard"/>
              </a:rPr>
              <a:t>대는 </a:t>
            </a:r>
            <a:r>
              <a:rPr lang="en-US" altLang="ko-KR" sz="1500" dirty="0">
                <a:latin typeface="Pretendard"/>
                <a:ea typeface="Pretendard"/>
              </a:rPr>
              <a:t>XXX...</a:t>
            </a:r>
            <a:r>
              <a:rPr lang="ko-KR" altLang="en-US" sz="1500" dirty="0">
                <a:latin typeface="Pretendard"/>
                <a:ea typeface="Pretendard"/>
              </a:rPr>
              <a:t> 이다</a:t>
            </a:r>
            <a:r>
              <a:rPr lang="en-US" altLang="ko-KR" sz="1500" dirty="0" smtClean="0">
                <a:latin typeface="Pretendard"/>
                <a:ea typeface="Pretendard"/>
              </a:rPr>
              <a:t>.</a:t>
            </a: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b="1" dirty="0" err="1" smtClean="0">
                <a:latin typeface="Pretendard"/>
                <a:ea typeface="Pretendard"/>
              </a:rPr>
              <a:t>활용예시</a:t>
            </a:r>
            <a:r>
              <a:rPr lang="ko-KR" altLang="en-US" sz="1500" b="1" dirty="0" smtClean="0">
                <a:latin typeface="Pretendard"/>
                <a:ea typeface="Pretendard"/>
              </a:rPr>
              <a:t> </a:t>
            </a:r>
            <a:r>
              <a:rPr lang="en-US" altLang="ko-KR" sz="1500" b="1" dirty="0" smtClean="0">
                <a:latin typeface="Pretendard"/>
                <a:ea typeface="Pretendard"/>
              </a:rPr>
              <a:t>:</a:t>
            </a:r>
            <a:r>
              <a:rPr lang="ko-KR" altLang="en-US" sz="1500" b="1" dirty="0" smtClean="0">
                <a:latin typeface="Pretendard"/>
                <a:ea typeface="Pretendard"/>
              </a:rPr>
              <a:t> 행복 테스트</a:t>
            </a:r>
            <a:endParaRPr lang="ko-KR" altLang="en-US" sz="1500" b="1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이에 대한 자살 </a:t>
            </a:r>
            <a:r>
              <a:rPr lang="ko-KR" altLang="en-US" sz="1500" dirty="0" smtClean="0">
                <a:latin typeface="Pretendard"/>
                <a:ea typeface="Pretendard"/>
              </a:rPr>
              <a:t>방지책이 </a:t>
            </a:r>
            <a:r>
              <a:rPr lang="ko-KR" altLang="en-US" sz="1500" dirty="0">
                <a:latin typeface="Pretendard"/>
                <a:ea typeface="Pretendard"/>
              </a:rPr>
              <a:t>필요한 상황이다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</a:p>
          <a:p>
            <a:pPr marL="0" indent="0">
              <a:buNone/>
              <a:defRPr/>
            </a:pPr>
            <a:endParaRPr lang="en-US" altLang="ko-KR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dirty="0">
                <a:latin typeface="Pretendard"/>
                <a:ea typeface="Pretendard"/>
              </a:rPr>
              <a:t>분석결과를 활용하여 행복지수를 측정하여 본인의 </a:t>
            </a:r>
            <a:r>
              <a:rPr lang="ko-KR" altLang="en-US" sz="1500" dirty="0" err="1">
                <a:latin typeface="Pretendard"/>
                <a:ea typeface="Pretendard"/>
              </a:rPr>
              <a:t>행복도를</a:t>
            </a:r>
            <a:r>
              <a:rPr lang="ko-KR" altLang="en-US" sz="1500" dirty="0">
                <a:latin typeface="Pretendard"/>
                <a:ea typeface="Pretendard"/>
              </a:rPr>
              <a:t> 객관적으로 확인할 수 </a:t>
            </a:r>
            <a:r>
              <a:rPr lang="ko-KR" altLang="en-US" sz="1500" dirty="0" err="1">
                <a:latin typeface="Pretendard"/>
                <a:ea typeface="Pretendard"/>
              </a:rPr>
              <a:t>있게한다</a:t>
            </a:r>
            <a:r>
              <a:rPr lang="en-US" altLang="ko-KR" sz="1500" dirty="0">
                <a:latin typeface="Pretendard"/>
                <a:ea typeface="Pretendard"/>
              </a:rPr>
              <a:t>.</a:t>
            </a:r>
            <a:r>
              <a:rPr lang="ko-KR" altLang="en-US" sz="1500" dirty="0">
                <a:latin typeface="Pretendard"/>
                <a:ea typeface="Pretendard"/>
              </a:rPr>
              <a:t> </a:t>
            </a:r>
          </a:p>
          <a:p>
            <a:pPr marL="0" indent="0">
              <a:buNone/>
              <a:defRPr/>
            </a:pPr>
            <a:endParaRPr lang="ko-KR" altLang="en-US" sz="1500" dirty="0">
              <a:latin typeface="Pretendard"/>
              <a:ea typeface="Pretendard"/>
            </a:endParaRPr>
          </a:p>
          <a:p>
            <a:pPr marL="0" indent="0">
              <a:buNone/>
              <a:defRPr/>
            </a:pPr>
            <a:r>
              <a:rPr lang="ko-KR" altLang="en-US" sz="1500" b="1" dirty="0">
                <a:solidFill>
                  <a:srgbClr val="FF0000"/>
                </a:solidFill>
                <a:latin typeface="Pretendard"/>
                <a:ea typeface="Pretendard"/>
              </a:rPr>
              <a:t>행복도 </a:t>
            </a:r>
            <a:r>
              <a:rPr lang="ko-KR" altLang="en-US" sz="1500" b="1" dirty="0" err="1">
                <a:solidFill>
                  <a:srgbClr val="FF0000"/>
                </a:solidFill>
                <a:latin typeface="Pretendard"/>
                <a:ea typeface="Pretendard"/>
              </a:rPr>
              <a:t>테스트결과</a:t>
            </a:r>
            <a:r>
              <a:rPr lang="ko-KR" altLang="en-US" sz="1500" b="1" dirty="0">
                <a:solidFill>
                  <a:srgbClr val="FF0000"/>
                </a:solidFill>
                <a:latin typeface="Pretendard"/>
                <a:ea typeface="Pretendard"/>
              </a:rPr>
              <a:t> 본인의 행복지수가 한국행복지수 평균보다 낮게 측정이 된다면 연령대별로  솔루션 제공을 한다</a:t>
            </a:r>
            <a:r>
              <a:rPr lang="en-US" altLang="ko-KR" sz="1500" b="1" dirty="0" smtClean="0">
                <a:solidFill>
                  <a:srgbClr val="FF0000"/>
                </a:solidFill>
                <a:latin typeface="Pretendard"/>
                <a:ea typeface="Pretendard"/>
              </a:rPr>
              <a:t>.</a:t>
            </a:r>
            <a:endParaRPr lang="en-US" altLang="ko-KR" sz="1500" b="1" dirty="0">
              <a:latin typeface="Pretendard"/>
              <a:ea typeface="Pretendard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294147"/>
              </p:ext>
            </p:extLst>
          </p:nvPr>
        </p:nvGraphicFramePr>
        <p:xfrm>
          <a:off x="609599" y="1600200"/>
          <a:ext cx="5189791" cy="1799266"/>
        </p:xfrm>
        <a:graphic>
          <a:graphicData uri="http://schemas.openxmlformats.org/drawingml/2006/table">
            <a:tbl>
              <a:tblPr firstRow="1" bandRow="1">
                <a:tableStyleId>{6B76CA6B-5DA6-45C4-B833-132EAC621518}</a:tableStyleId>
              </a:tblPr>
              <a:tblGrid>
                <a:gridCol w="173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5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연령대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스트레스원인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솔루션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학업 성취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sz="1200" dirty="0" err="1"/>
                        <a:t>공부법관련</a:t>
                      </a:r>
                      <a:r>
                        <a:rPr lang="ko-KR" altLang="en-US" sz="1200" dirty="0"/>
                        <a:t> 서적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데이터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dirty="0"/>
                        <a:t>취업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sz="1200" dirty="0" err="1"/>
                        <a:t>취업데이터</a:t>
                      </a:r>
                      <a:r>
                        <a:rPr lang="ko-KR" altLang="en-US" sz="1200" dirty="0"/>
                        <a:t> 추천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심리상담 </a:t>
                      </a:r>
                      <a:r>
                        <a:rPr lang="ko-KR" altLang="en-US" sz="1200" dirty="0" smtClean="0"/>
                        <a:t>추천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433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…</a:t>
                      </a:r>
                      <a:endParaRPr lang="ko-KR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altLang="ko-KR" sz="1200" dirty="0" smtClean="0"/>
                        <a:t>…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56593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활용 유즈케이스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0" y="1600200"/>
            <a:ext cx="5486397" cy="47172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ko-KR" altLang="en-US" sz="1500" b="1"/>
              <a:t>유즈케이스 분석</a:t>
            </a:r>
            <a:endParaRPr lang="ko-KR" altLang="en-US" sz="1500"/>
          </a:p>
          <a:p>
            <a:pPr marL="0" indent="0">
              <a:buNone/>
              <a:defRPr/>
            </a:pPr>
            <a:r>
              <a:rPr lang="ko-KR" altLang="en-US" sz="1500"/>
              <a:t>행복지수를 </a:t>
            </a:r>
            <a:r>
              <a:rPr lang="en-US" altLang="ko-KR" sz="1500"/>
              <a:t>1-7</a:t>
            </a:r>
            <a:r>
              <a:rPr lang="ko-KR" altLang="en-US" sz="1500"/>
              <a:t>점으로 선택하여 행복지수공식을 이용한 결과를 도출해 낸다</a:t>
            </a:r>
            <a:r>
              <a:rPr lang="en-US" altLang="ko-KR" sz="1500"/>
              <a:t>.</a:t>
            </a:r>
            <a:r>
              <a:rPr lang="ko-KR" altLang="en-US" sz="1500"/>
              <a:t> </a:t>
            </a:r>
          </a:p>
          <a:p>
            <a:pPr marL="0" indent="0">
              <a:buNone/>
              <a:defRPr/>
            </a:pPr>
            <a:r>
              <a:rPr lang="ko-KR" altLang="en-US" sz="1500"/>
              <a:t>점수 분기마다 적절한 문구가 필요하며 행복과 관련된 </a:t>
            </a:r>
            <a:r>
              <a:rPr lang="en-US" altLang="ko-KR" sz="1500"/>
              <a:t>Tip </a:t>
            </a:r>
            <a:r>
              <a:rPr lang="ko-KR" altLang="en-US" sz="1500"/>
              <a:t>을 간단 하게 제공하고 있다</a:t>
            </a:r>
            <a:r>
              <a:rPr lang="en-US" altLang="ko-KR" sz="1500"/>
              <a:t>.</a:t>
            </a:r>
          </a:p>
          <a:p>
            <a:pPr marL="0" indent="0">
              <a:buNone/>
              <a:defRPr/>
            </a:pPr>
            <a:endParaRPr lang="ko-KR" altLang="en-US" sz="1500"/>
          </a:p>
          <a:p>
            <a:pPr marL="0" indent="0">
              <a:buNone/>
              <a:defRPr/>
            </a:pPr>
            <a:r>
              <a:rPr lang="ko-KR" altLang="en-US" sz="1500" b="1"/>
              <a:t>차별화 전략</a:t>
            </a:r>
            <a:endParaRPr lang="ko-KR" altLang="en-US" sz="1500"/>
          </a:p>
          <a:p>
            <a:pPr marL="0" indent="0">
              <a:buNone/>
              <a:defRPr/>
            </a:pPr>
            <a:r>
              <a:rPr lang="ko-KR" altLang="en-US" sz="1500"/>
              <a:t>사용자의 </a:t>
            </a:r>
            <a:r>
              <a:rPr lang="ko-KR" altLang="en-US" sz="1500" b="1"/>
              <a:t>연령대 정보</a:t>
            </a:r>
            <a:r>
              <a:rPr lang="ko-KR" altLang="en-US" sz="1500"/>
              <a:t>를 설문조사에서 추가로 받음 </a:t>
            </a:r>
          </a:p>
          <a:p>
            <a:pPr marL="0" indent="0">
              <a:buNone/>
              <a:defRPr/>
            </a:pPr>
            <a:r>
              <a:rPr lang="ko-KR" altLang="en-US" sz="1500"/>
              <a:t>분석결과로 나온 자살률</a:t>
            </a:r>
            <a:r>
              <a:rPr lang="en-US" altLang="ko-KR" sz="1500"/>
              <a:t>/</a:t>
            </a:r>
            <a:r>
              <a:rPr lang="ko-KR" altLang="en-US" sz="1500"/>
              <a:t>스트레스 원인과 관련된 </a:t>
            </a:r>
          </a:p>
          <a:p>
            <a:pPr marL="0" indent="0">
              <a:buNone/>
              <a:defRPr/>
            </a:pPr>
            <a:r>
              <a:rPr lang="ko-KR" altLang="en-US" sz="1500" b="1"/>
              <a:t>실질적인 솔루션까지 제공</a:t>
            </a:r>
            <a:r>
              <a:rPr lang="ko-KR" altLang="en-US" sz="1500"/>
              <a:t>하는것</a:t>
            </a:r>
          </a:p>
          <a:p>
            <a:pPr marL="0" indent="0">
              <a:buNone/>
              <a:defRPr/>
            </a:pPr>
            <a:r>
              <a:rPr lang="ko-KR" altLang="en-US" sz="1500"/>
              <a:t>기존의 서비스와의 차이점이다</a:t>
            </a:r>
            <a:r>
              <a:rPr lang="en-US" altLang="ko-KR" sz="1500"/>
              <a:t>.</a:t>
            </a:r>
          </a:p>
          <a:p>
            <a:pPr marL="0" indent="0">
              <a:buNone/>
              <a:defRPr/>
            </a:pPr>
            <a:endParaRPr lang="ko-KR" altLang="en-US" sz="1500"/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(</a:t>
            </a:r>
            <a:r>
              <a:rPr lang="ko-KR" altLang="en-US" sz="1500">
                <a:solidFill>
                  <a:srgbClr val="A6A6A6"/>
                </a:solidFill>
              </a:rPr>
              <a:t>예시</a:t>
            </a:r>
            <a:r>
              <a:rPr lang="en-US" altLang="ko-KR" sz="1500">
                <a:solidFill>
                  <a:srgbClr val="A6A6A6"/>
                </a:solidFill>
              </a:rPr>
              <a:t>)</a:t>
            </a:r>
            <a:r>
              <a:rPr lang="ko-KR" altLang="en-US" sz="1500">
                <a:solidFill>
                  <a:srgbClr val="A6A6A6"/>
                </a:solidFill>
              </a:rPr>
              <a:t> </a:t>
            </a:r>
            <a:endParaRPr lang="en-US" altLang="ko-KR" sz="1500">
              <a:solidFill>
                <a:srgbClr val="A6A6A6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10</a:t>
            </a:r>
            <a:r>
              <a:rPr lang="ko-KR" altLang="en-US" sz="1500">
                <a:solidFill>
                  <a:srgbClr val="A6A6A6"/>
                </a:solidFill>
              </a:rPr>
              <a:t>대의 스트레스 원인 </a:t>
            </a:r>
            <a:r>
              <a:rPr lang="en-US" altLang="ko-KR" sz="1500">
                <a:solidFill>
                  <a:srgbClr val="A6A6A6"/>
                </a:solidFill>
              </a:rPr>
              <a:t>1</a:t>
            </a:r>
            <a:r>
              <a:rPr lang="ko-KR" altLang="en-US" sz="1500">
                <a:solidFill>
                  <a:srgbClr val="A6A6A6"/>
                </a:solidFill>
              </a:rPr>
              <a:t>위는</a:t>
            </a:r>
            <a:r>
              <a:rPr lang="ko-KR" altLang="en-US" sz="1500" b="1">
                <a:solidFill>
                  <a:srgbClr val="A6A6A6"/>
                </a:solidFill>
              </a:rPr>
              <a:t> 친구관계</a:t>
            </a:r>
            <a:r>
              <a:rPr lang="ko-KR" altLang="en-US" sz="1500">
                <a:solidFill>
                  <a:srgbClr val="A6A6A6"/>
                </a:solidFill>
              </a:rPr>
              <a:t>로 도출되었다면 </a:t>
            </a:r>
          </a:p>
          <a:p>
            <a:pPr marL="0" indent="0">
              <a:buNone/>
              <a:defRPr/>
            </a:pPr>
            <a:r>
              <a:rPr lang="ko-KR" altLang="en-US" sz="1500">
                <a:solidFill>
                  <a:srgbClr val="A6A6A6"/>
                </a:solidFill>
              </a:rPr>
              <a:t>친구관계를 원활하게 해주는 책또는 영상을 소개시켜준다</a:t>
            </a:r>
          </a:p>
          <a:p>
            <a:pPr marL="0" indent="0">
              <a:buNone/>
              <a:defRPr/>
            </a:pPr>
            <a:endParaRPr lang="ko-KR" altLang="en-US" sz="1500">
              <a:solidFill>
                <a:srgbClr val="A6A6A6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-</a:t>
            </a:r>
            <a:r>
              <a:rPr lang="ko-KR" altLang="en-US" sz="1500">
                <a:solidFill>
                  <a:srgbClr val="A6A6A6"/>
                </a:solidFill>
              </a:rPr>
              <a:t> 책에 대한 데이터는 </a:t>
            </a:r>
            <a:r>
              <a:rPr lang="ko-KR" altLang="en-US" sz="1500" b="1">
                <a:solidFill>
                  <a:srgbClr val="A6A6A6"/>
                </a:solidFill>
              </a:rPr>
              <a:t>교보문고 사이트</a:t>
            </a:r>
            <a:r>
              <a:rPr lang="ko-KR" altLang="en-US" sz="1500">
                <a:solidFill>
                  <a:srgbClr val="A6A6A6"/>
                </a:solidFill>
              </a:rPr>
              <a:t>에서 검색어로 인간관계에 대한 책을 검색후 상위 </a:t>
            </a:r>
            <a:r>
              <a:rPr lang="en-US" altLang="ko-KR" sz="1500">
                <a:solidFill>
                  <a:srgbClr val="A6A6A6"/>
                </a:solidFill>
              </a:rPr>
              <a:t>3</a:t>
            </a:r>
            <a:r>
              <a:rPr lang="ko-KR" altLang="en-US" sz="1500">
                <a:solidFill>
                  <a:srgbClr val="A6A6A6"/>
                </a:solidFill>
              </a:rPr>
              <a:t>안에 들어가는 책을 크롤링하여 데이터를 수집후 솔루션으로 정보를 제공하는 방식</a:t>
            </a:r>
          </a:p>
          <a:p>
            <a:pPr marL="0" indent="0">
              <a:buNone/>
              <a:defRPr/>
            </a:pPr>
            <a:endParaRPr lang="ko-KR" altLang="en-US" sz="1500">
              <a:solidFill>
                <a:srgbClr val="A6A6A6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>
                <a:solidFill>
                  <a:srgbClr val="A6A6A6"/>
                </a:solidFill>
              </a:rPr>
              <a:t>-</a:t>
            </a:r>
            <a:r>
              <a:rPr lang="ko-KR" altLang="en-US" sz="1500">
                <a:solidFill>
                  <a:srgbClr val="A6A6A6"/>
                </a:solidFill>
              </a:rPr>
              <a:t> 매체 특성상 책보다는 영상이 더 접근성</a:t>
            </a:r>
            <a:r>
              <a:rPr lang="en-US" altLang="ko-KR" sz="1500">
                <a:solidFill>
                  <a:srgbClr val="A6A6A6"/>
                </a:solidFill>
              </a:rPr>
              <a:t>/</a:t>
            </a:r>
            <a:r>
              <a:rPr lang="ko-KR" altLang="en-US" sz="1500">
                <a:solidFill>
                  <a:srgbClr val="A6A6A6"/>
                </a:solidFill>
              </a:rPr>
              <a:t>흡입력이 좋으므로  유튜브사이트에서 친구관계에 대한 영상을 크롤링해서 상위 </a:t>
            </a:r>
            <a:r>
              <a:rPr lang="en-US" altLang="ko-KR" sz="1500">
                <a:solidFill>
                  <a:srgbClr val="A6A6A6"/>
                </a:solidFill>
              </a:rPr>
              <a:t>10</a:t>
            </a:r>
            <a:r>
              <a:rPr lang="ko-KR" altLang="en-US" sz="1500">
                <a:solidFill>
                  <a:srgbClr val="A6A6A6"/>
                </a:solidFill>
              </a:rPr>
              <a:t>개의 데이터를 제공한다</a:t>
            </a:r>
            <a:r>
              <a:rPr lang="en-US" altLang="ko-KR" sz="1500">
                <a:solidFill>
                  <a:srgbClr val="A6A6A6"/>
                </a:solidFill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407993"/>
            <a:ext cx="4425103" cy="25508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87306" y="2998646"/>
            <a:ext cx="3233300" cy="306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분석 웹 프로젝트 설계 요약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20230" y="1417638"/>
            <a:ext cx="5762168" cy="51846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ko-KR" altLang="en-US" sz="1600" b="1" dirty="0"/>
              <a:t>레이아웃</a:t>
            </a:r>
            <a:endParaRPr lang="en-US" altLang="ko-KR" sz="1500" b="1" dirty="0" smtClean="0"/>
          </a:p>
          <a:p>
            <a:pPr>
              <a:buFontTx/>
              <a:buChar char="-"/>
              <a:defRPr/>
            </a:pPr>
            <a:r>
              <a:rPr lang="ko-KR" altLang="en-US" sz="1500" dirty="0" err="1" smtClean="0"/>
              <a:t>시작화면</a:t>
            </a:r>
            <a:r>
              <a:rPr lang="en-US" altLang="ko-KR" sz="1500" dirty="0"/>
              <a:t> </a:t>
            </a:r>
            <a:r>
              <a:rPr lang="en-US" altLang="ko-KR" sz="1500" dirty="0" smtClean="0"/>
              <a:t>– </a:t>
            </a:r>
            <a:r>
              <a:rPr lang="ko-KR" altLang="en-US" sz="1500" dirty="0" err="1" smtClean="0"/>
              <a:t>테스트화면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– </a:t>
            </a:r>
            <a:r>
              <a:rPr lang="ko-KR" altLang="en-US" sz="1500" dirty="0" err="1" smtClean="0"/>
              <a:t>결과화면</a:t>
            </a:r>
            <a:endParaRPr lang="en-US" altLang="ko-KR" sz="1500" dirty="0" smtClean="0"/>
          </a:p>
          <a:p>
            <a:pPr marL="0" indent="0">
              <a:buNone/>
              <a:defRPr/>
            </a:pPr>
            <a:endParaRPr lang="en-US" altLang="ko-KR" sz="1500" b="1" dirty="0"/>
          </a:p>
          <a:p>
            <a:pPr marL="0" indent="0">
              <a:buNone/>
              <a:defRPr/>
            </a:pPr>
            <a:r>
              <a:rPr lang="ko-KR" altLang="en-US" sz="1500" b="1" dirty="0" smtClean="0"/>
              <a:t>기능</a:t>
            </a:r>
            <a:endParaRPr lang="en-US" altLang="ko-KR" sz="1500" b="1" dirty="0" smtClean="0"/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행복지수측정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솔루션 출력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세션에 </a:t>
            </a:r>
            <a:r>
              <a:rPr lang="ko-KR" altLang="en-US" sz="1500" dirty="0" err="1" smtClean="0"/>
              <a:t>참여정보</a:t>
            </a:r>
            <a:r>
              <a:rPr lang="ko-KR" altLang="en-US" sz="1500" dirty="0" smtClean="0"/>
              <a:t> 저장</a:t>
            </a:r>
            <a:r>
              <a:rPr lang="en-US" altLang="ko-KR" sz="1500" dirty="0" smtClean="0"/>
              <a:t>, </a:t>
            </a:r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다시참여하기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공유기능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b="1" dirty="0"/>
              <a:t>Django </a:t>
            </a:r>
            <a:r>
              <a:rPr lang="ko-KR" altLang="en-US" sz="1500" b="1" dirty="0" smtClean="0"/>
              <a:t>사용</a:t>
            </a:r>
            <a:endParaRPr lang="en-US" altLang="ko-KR" sz="1500" b="1" dirty="0" smtClean="0"/>
          </a:p>
          <a:p>
            <a:pPr marL="0" indent="0">
              <a:buNone/>
              <a:defRPr/>
            </a:pPr>
            <a:r>
              <a:rPr lang="ko-KR" altLang="en-US" sz="1500" b="1" dirty="0" smtClean="0"/>
              <a:t>배포</a:t>
            </a:r>
            <a:endParaRPr lang="en-US" altLang="ko-KR" sz="1500" b="1" dirty="0" smtClean="0"/>
          </a:p>
          <a:p>
            <a:pPr>
              <a:buFontTx/>
              <a:buChar char="-"/>
              <a:defRPr/>
            </a:pPr>
            <a:r>
              <a:rPr lang="en-US" altLang="ko-KR" sz="1500" dirty="0" err="1" smtClean="0"/>
              <a:t>Pythonenywhere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사이트에서 무료버전이용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b="1" dirty="0" smtClean="0"/>
              <a:t>DB </a:t>
            </a:r>
            <a:r>
              <a:rPr lang="ko-KR" altLang="en-US" sz="1500" b="1" dirty="0" smtClean="0"/>
              <a:t>설계 </a:t>
            </a:r>
            <a:r>
              <a:rPr lang="en-US" altLang="ko-KR" sz="1500" b="1" dirty="0" smtClean="0"/>
              <a:t>(</a:t>
            </a:r>
            <a:r>
              <a:rPr lang="en-US" altLang="ko-KR" sz="1500" b="1" dirty="0" err="1" smtClean="0"/>
              <a:t>mysql</a:t>
            </a:r>
            <a:r>
              <a:rPr lang="en-US" altLang="ko-KR" sz="1500" b="1" dirty="0" smtClean="0"/>
              <a:t> </a:t>
            </a:r>
            <a:r>
              <a:rPr lang="ko-KR" altLang="en-US" sz="1500" b="1" dirty="0" smtClean="0"/>
              <a:t>연동</a:t>
            </a:r>
            <a:r>
              <a:rPr lang="en-US" altLang="ko-KR" sz="1500" b="1" dirty="0" smtClean="0"/>
              <a:t>)</a:t>
            </a:r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테스트 데이터 저장</a:t>
            </a:r>
            <a:endParaRPr lang="en-US" altLang="ko-KR" sz="15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로그인 </a:t>
            </a:r>
            <a:r>
              <a:rPr lang="en-US" altLang="ko-KR" sz="1100" dirty="0" smtClean="0"/>
              <a:t>X, </a:t>
            </a:r>
            <a:r>
              <a:rPr lang="ko-KR" altLang="en-US" sz="1100" dirty="0" smtClean="0"/>
              <a:t>쓰기 권한 모두에게 줌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세션에 결과 저장 또는 </a:t>
            </a:r>
            <a:r>
              <a:rPr lang="ko-KR" altLang="en-US" sz="1100" dirty="0" err="1" smtClean="0"/>
              <a:t>쿠기에</a:t>
            </a:r>
            <a:r>
              <a:rPr lang="ko-KR" altLang="en-US" sz="1100" dirty="0" smtClean="0"/>
              <a:t> 저장 </a:t>
            </a:r>
            <a:endParaRPr lang="en-US" altLang="ko-KR" sz="1100" dirty="0"/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항목</a:t>
            </a:r>
            <a:r>
              <a:rPr lang="en-US" altLang="ko-KR" sz="1100" dirty="0" smtClean="0"/>
              <a:t>1 – 7 </a:t>
            </a:r>
            <a:r>
              <a:rPr lang="ko-KR" altLang="en-US" sz="1100" dirty="0" smtClean="0"/>
              <a:t>점수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en-US" altLang="ko-KR" sz="1100" dirty="0" smtClean="0"/>
              <a:t>A</a:t>
            </a:r>
            <a:r>
              <a:rPr lang="ko-KR" altLang="en-US" sz="1100" dirty="0" smtClean="0"/>
              <a:t>항목 평균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en-US" altLang="ko-KR" sz="1100" dirty="0" smtClean="0"/>
              <a:t>B</a:t>
            </a:r>
            <a:r>
              <a:rPr lang="ko-KR" altLang="en-US" sz="1100" dirty="0" smtClean="0"/>
              <a:t>항목 평균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en-US" altLang="ko-KR" sz="1100" dirty="0" smtClean="0"/>
              <a:t>C</a:t>
            </a:r>
            <a:r>
              <a:rPr lang="ko-KR" altLang="en-US" sz="1100" dirty="0" smtClean="0"/>
              <a:t>항목 평균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총점수</a:t>
            </a:r>
            <a:endParaRPr lang="en-US" altLang="ko-KR" sz="1100" dirty="0" smtClean="0"/>
          </a:p>
          <a:p>
            <a:pPr>
              <a:buFontTx/>
              <a:buChar char="-"/>
              <a:defRPr/>
            </a:pPr>
            <a:r>
              <a:rPr lang="ko-KR" altLang="en-US" sz="1500" dirty="0" smtClean="0"/>
              <a:t>솔루션 데이터 저장 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유튜브 </a:t>
            </a:r>
            <a:r>
              <a:rPr lang="ko-KR" altLang="en-US" sz="1500" dirty="0" err="1" smtClean="0"/>
              <a:t>크롤링</a:t>
            </a:r>
            <a:r>
              <a:rPr lang="ko-KR" altLang="en-US" sz="1500" dirty="0" smtClean="0"/>
              <a:t> 데이터</a:t>
            </a:r>
            <a:r>
              <a:rPr lang="en-US" altLang="ko-KR" sz="1500" dirty="0" smtClean="0"/>
              <a:t>)</a:t>
            </a:r>
          </a:p>
          <a:p>
            <a:pPr lvl="1">
              <a:buFontTx/>
              <a:buChar char="-"/>
              <a:defRPr/>
            </a:pPr>
            <a:r>
              <a:rPr lang="ko-KR" altLang="en-US" sz="1100" dirty="0" smtClean="0"/>
              <a:t>연령</a:t>
            </a:r>
            <a:endParaRPr lang="en-US" altLang="ko-KR" sz="1100" dirty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결과구분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만족</a:t>
            </a:r>
            <a:r>
              <a:rPr lang="en-US" altLang="ko-KR" sz="1100" dirty="0" smtClean="0"/>
              <a:t>-70</a:t>
            </a:r>
            <a:r>
              <a:rPr lang="ko-KR" altLang="en-US" sz="1100" dirty="0" err="1" smtClean="0"/>
              <a:t>점이상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보통 </a:t>
            </a:r>
            <a:r>
              <a:rPr lang="en-US" altLang="ko-KR" sz="1100" dirty="0" smtClean="0"/>
              <a:t>50</a:t>
            </a:r>
            <a:r>
              <a:rPr lang="ko-KR" altLang="en-US" sz="1100" dirty="0" smtClean="0"/>
              <a:t>점 이상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불만족 </a:t>
            </a:r>
            <a:r>
              <a:rPr lang="en-US" altLang="ko-KR" sz="1100" dirty="0" smtClean="0"/>
              <a:t>50 </a:t>
            </a:r>
            <a:r>
              <a:rPr lang="ko-KR" altLang="en-US" sz="1100" dirty="0" smtClean="0"/>
              <a:t>미만</a:t>
            </a:r>
            <a:r>
              <a:rPr lang="en-US" altLang="ko-KR" sz="1100" dirty="0" smtClean="0"/>
              <a:t>)</a:t>
            </a:r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영상제목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영상링크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r>
              <a:rPr lang="ko-KR" altLang="en-US" sz="1100" dirty="0" err="1" smtClean="0"/>
              <a:t>영상썸네일링크</a:t>
            </a:r>
            <a:endParaRPr lang="en-US" altLang="ko-KR" sz="1100" dirty="0" smtClean="0"/>
          </a:p>
          <a:p>
            <a:pPr lvl="1">
              <a:buFontTx/>
              <a:buChar char="-"/>
              <a:defRPr/>
            </a:pPr>
            <a:endParaRPr lang="en-US" altLang="ko-KR" sz="1100" dirty="0"/>
          </a:p>
          <a:p>
            <a:pPr lvl="1">
              <a:buFontTx/>
              <a:buChar char="-"/>
              <a:defRPr/>
            </a:pPr>
            <a:endParaRPr lang="en-US" altLang="ko-KR" sz="1100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29" y="1251846"/>
            <a:ext cx="5562001" cy="4471261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691255" y="5557315"/>
            <a:ext cx="5047319" cy="10849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1500" b="1" dirty="0" err="1" smtClean="0"/>
              <a:t>크롤링</a:t>
            </a:r>
            <a:r>
              <a:rPr lang="ko-KR" altLang="en-US" sz="1500" b="1" dirty="0" smtClean="0"/>
              <a:t> 사이트</a:t>
            </a:r>
            <a:endParaRPr lang="en-US" altLang="ko-KR" sz="1500" b="1" dirty="0" smtClean="0"/>
          </a:p>
          <a:p>
            <a:pPr marL="0" indent="0">
              <a:buFont typeface="Arial" pitchFamily="34" charset="0"/>
              <a:buNone/>
            </a:pPr>
            <a:r>
              <a:rPr lang="ko-KR" altLang="en-US" sz="1500" dirty="0" smtClean="0"/>
              <a:t>정신건강센터 데이터 </a:t>
            </a:r>
            <a:r>
              <a:rPr lang="en-US" altLang="ko-KR" sz="1500" dirty="0" smtClean="0"/>
              <a:t>: </a:t>
            </a:r>
            <a:r>
              <a:rPr lang="en-US" altLang="ko-KR" sz="1500" dirty="0" smtClean="0">
                <a:hlinkClick r:id="rId3"/>
              </a:rPr>
              <a:t>https://www.data.go.kr/data/3049990/fileData.do</a:t>
            </a:r>
            <a:endParaRPr lang="en-US" altLang="ko-KR" sz="1500" dirty="0" smtClean="0"/>
          </a:p>
          <a:p>
            <a:pPr marL="0" indent="0">
              <a:buFont typeface="Arial" pitchFamily="34" charset="0"/>
              <a:buNone/>
            </a:pPr>
            <a:r>
              <a:rPr lang="ko-KR" altLang="en-US" sz="1500" dirty="0" smtClean="0"/>
              <a:t>유튜브 영상 데이터 </a:t>
            </a:r>
            <a:r>
              <a:rPr lang="en-US" altLang="ko-KR" sz="1500" dirty="0" smtClean="0"/>
              <a:t>: </a:t>
            </a:r>
            <a:r>
              <a:rPr lang="en-US" altLang="ko-KR" sz="1500" dirty="0" smtClean="0">
                <a:hlinkClick r:id="rId4"/>
              </a:rPr>
              <a:t>https://www.youtube.com/</a:t>
            </a:r>
            <a:endParaRPr lang="en-US" altLang="ko-KR" sz="1500" dirty="0" smtClean="0"/>
          </a:p>
          <a:p>
            <a:pPr marL="0" indent="0">
              <a:buFont typeface="Arial" pitchFamily="34" charset="0"/>
              <a:buNone/>
            </a:pPr>
            <a:endParaRPr lang="en-US" altLang="ko-KR" sz="1500" dirty="0" smtClean="0"/>
          </a:p>
          <a:p>
            <a:pPr marL="0" indent="0">
              <a:buFont typeface="Arial" pitchFamily="34" charset="0"/>
              <a:buNone/>
            </a:pPr>
            <a:endParaRPr lang="en-US" altLang="ko-KR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영상매체를 솔루션으로 선택한 이유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5632" b="5255"/>
          <a:stretch/>
        </p:blipFill>
        <p:spPr>
          <a:xfrm>
            <a:off x="609599" y="2423886"/>
            <a:ext cx="5046849" cy="23736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39543" y="2255097"/>
            <a:ext cx="51629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보건복지부의 </a:t>
            </a:r>
            <a:endParaRPr lang="en-US" altLang="ko-KR" dirty="0" smtClean="0"/>
          </a:p>
          <a:p>
            <a:r>
              <a:rPr lang="en-US" altLang="ko-KR" dirty="0" smtClean="0"/>
              <a:t>2025</a:t>
            </a:r>
            <a:r>
              <a:rPr lang="ko-KR" altLang="en-US" dirty="0" smtClean="0"/>
              <a:t>년 국가자살예방사업에 따르면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자살예방의</a:t>
            </a:r>
            <a:r>
              <a:rPr lang="ko-KR" altLang="en-US" dirty="0" smtClean="0"/>
              <a:t> 수단으로 </a:t>
            </a:r>
            <a:r>
              <a:rPr lang="ko-KR" altLang="en-US" b="1" dirty="0" smtClean="0">
                <a:solidFill>
                  <a:srgbClr val="FF0000"/>
                </a:solidFill>
              </a:rPr>
              <a:t>유튜브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</a:rPr>
              <a:t>포털사이트를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이용</a:t>
            </a:r>
            <a:r>
              <a:rPr lang="ko-KR" altLang="en-US" dirty="0" smtClean="0"/>
              <a:t>하는 것으로 보임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테스트 결과로 가장 접근성이 좋은 매체인 유튜브</a:t>
            </a:r>
            <a:endParaRPr lang="en-US" altLang="ko-KR" dirty="0" smtClean="0"/>
          </a:p>
          <a:p>
            <a:r>
              <a:rPr lang="ko-KR" altLang="en-US" dirty="0" smtClean="0"/>
              <a:t>영상을 선택하게 되었음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845795914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970</Words>
  <Application>Microsoft Office PowerPoint</Application>
  <PresentationFormat>와이드스크린</PresentationFormat>
  <Paragraphs>184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Pretendard</vt:lpstr>
      <vt:lpstr>궁서</vt:lpstr>
      <vt:lpstr>맑은 고딕</vt:lpstr>
      <vt:lpstr>Arial</vt:lpstr>
      <vt:lpstr>Calibri</vt:lpstr>
      <vt:lpstr>Times New Roman</vt:lpstr>
      <vt:lpstr>한컴오피스</vt:lpstr>
      <vt:lpstr>계획서</vt:lpstr>
      <vt:lpstr>문제정의</vt:lpstr>
      <vt:lpstr>용어 및 배경지식</vt:lpstr>
      <vt:lpstr>행복지수 측정의 필요성</vt:lpstr>
      <vt:lpstr>데이터의 범위 설정</vt:lpstr>
      <vt:lpstr>가용 데이터</vt:lpstr>
      <vt:lpstr>가용 데이터</vt:lpstr>
      <vt:lpstr>가용 데이터</vt:lpstr>
      <vt:lpstr>분석 결과와 활용 기획 예시</vt:lpstr>
      <vt:lpstr>활용 유즈케이스</vt:lpstr>
      <vt:lpstr>분석 웹 프로젝트 설계 요약</vt:lpstr>
      <vt:lpstr>영상매체를 솔루션으로 선택한 이유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계획서 승낙을 위한 설명서</dc:title>
  <dc:creator>de051</dc:creator>
  <cp:lastModifiedBy>ITSC</cp:lastModifiedBy>
  <cp:revision>102</cp:revision>
  <dcterms:created xsi:type="dcterms:W3CDTF">2025-11-06T10:26:19Z</dcterms:created>
  <dcterms:modified xsi:type="dcterms:W3CDTF">2025-11-10T00:00:20Z</dcterms:modified>
  <cp:version>1000.0100.01</cp:version>
</cp:coreProperties>
</file>