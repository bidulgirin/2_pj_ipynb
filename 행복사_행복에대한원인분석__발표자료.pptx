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  <p:sldId id="278" r:id="rId5"/>
    <p:sldId id="280" r:id="rId6"/>
    <p:sldId id="295" r:id="rId7"/>
    <p:sldId id="281" r:id="rId8"/>
    <p:sldId id="267" r:id="rId9"/>
    <p:sldId id="270" r:id="rId10"/>
    <p:sldId id="285" r:id="rId11"/>
    <p:sldId id="282" r:id="rId12"/>
    <p:sldId id="274" r:id="rId13"/>
    <p:sldId id="277" r:id="rId14"/>
    <p:sldId id="286" r:id="rId15"/>
    <p:sldId id="276" r:id="rId16"/>
    <p:sldId id="275" r:id="rId17"/>
    <p:sldId id="302" r:id="rId18"/>
    <p:sldId id="303" r:id="rId19"/>
    <p:sldId id="294" r:id="rId20"/>
    <p:sldId id="292" r:id="rId21"/>
    <p:sldId id="299" r:id="rId22"/>
    <p:sldId id="300" r:id="rId23"/>
    <p:sldId id="298" r:id="rId24"/>
    <p:sldId id="304" r:id="rId25"/>
    <p:sldId id="305" r:id="rId26"/>
    <p:sldId id="265" r:id="rId27"/>
    <p:sldId id="290" r:id="rId28"/>
    <p:sldId id="291" r:id="rId29"/>
    <p:sldId id="256" r:id="rId30"/>
    <p:sldId id="260" r:id="rId31"/>
    <p:sldId id="261" r:id="rId32"/>
    <p:sldId id="262" r:id="rId33"/>
    <p:sldId id="271" r:id="rId34"/>
    <p:sldId id="297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신강식" initials="신" lastIdx="1" clrIdx="0">
    <p:extLst>
      <p:ext uri="{19B8F6BF-5375-455C-9EA6-DF929625EA0E}">
        <p15:presenceInfo xmlns:p15="http://schemas.microsoft.com/office/powerpoint/2012/main" userId="신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10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13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18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386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68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63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00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00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08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38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2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E1A60-246D-4C09-A210-F5AA3DCE495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FDA14-6812-4AC0-BE08-2D5FA15EB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37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7212AE9-0955-47F8-BAA0-1558B6180E00}"/>
              </a:ext>
            </a:extLst>
          </p:cNvPr>
          <p:cNvSpPr/>
          <p:nvPr/>
        </p:nvSpPr>
        <p:spPr>
          <a:xfrm>
            <a:off x="3619076" y="2693960"/>
            <a:ext cx="5095422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Happy Project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C846F9C-285B-4F60-A0A2-EB3063F4A1C6}"/>
              </a:ext>
            </a:extLst>
          </p:cNvPr>
          <p:cNvSpPr/>
          <p:nvPr/>
        </p:nvSpPr>
        <p:spPr>
          <a:xfrm>
            <a:off x="3869675" y="3390050"/>
            <a:ext cx="4594225" cy="3526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sz="1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분석 프로젝트 </a:t>
            </a:r>
            <a:endParaRPr lang="ko-KR" altLang="en-US" sz="1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C8D53C-BC6D-4979-8095-540BA57BA3A5}"/>
              </a:ext>
            </a:extLst>
          </p:cNvPr>
          <p:cNvSpPr/>
          <p:nvPr/>
        </p:nvSpPr>
        <p:spPr>
          <a:xfrm rot="5400000">
            <a:off x="-452881" y="2325300"/>
            <a:ext cx="2225516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dist"/>
            <a:r>
              <a:rPr lang="ko-KR" altLang="en-US" sz="8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개인의 행복을 위한 솔루션</a:t>
            </a:r>
            <a:endParaRPr lang="ko-KR" altLang="en-US" sz="8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53D51-0FD8-4B1A-8D87-A7B8125A9AED}"/>
              </a:ext>
            </a:extLst>
          </p:cNvPr>
          <p:cNvSpPr txBox="1"/>
          <p:nvPr/>
        </p:nvSpPr>
        <p:spPr>
          <a:xfrm>
            <a:off x="1367764" y="536082"/>
            <a:ext cx="3296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10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https://de05164.pythonanywhere.com/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3E5762-5743-475D-AFA3-431C484A58E5}"/>
              </a:ext>
            </a:extLst>
          </p:cNvPr>
          <p:cNvSpPr txBox="1"/>
          <p:nvPr/>
        </p:nvSpPr>
        <p:spPr>
          <a:xfrm>
            <a:off x="9785038" y="543776"/>
            <a:ext cx="18886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ko-KR" altLang="en-US" sz="1100" kern="10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팀원 </a:t>
            </a:r>
            <a:r>
              <a:rPr lang="en-US" altLang="ko-KR" sz="1100" kern="10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</a:t>
            </a:r>
            <a:r>
              <a:rPr lang="ko-KR" altLang="en-US" sz="1100" kern="10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김정안</a:t>
            </a:r>
            <a:r>
              <a:rPr lang="en-US" altLang="ko-KR" sz="1100" kern="10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100" kern="10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이경민</a:t>
            </a:r>
            <a:r>
              <a:rPr lang="en-US" altLang="ko-KR" sz="1100" kern="10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100" kern="10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백재호</a:t>
            </a:r>
            <a:endParaRPr lang="ko-KR" altLang="en-US" sz="1100" kern="10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A11612F-10B3-486C-8C86-32984251356B}"/>
              </a:ext>
            </a:extLst>
          </p:cNvPr>
          <p:cNvCxnSpPr/>
          <p:nvPr/>
        </p:nvCxnSpPr>
        <p:spPr>
          <a:xfrm>
            <a:off x="659877" y="3675925"/>
            <a:ext cx="0" cy="27103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4B854E5-9DB1-422C-A47C-20BA626302A4}"/>
              </a:ext>
            </a:extLst>
          </p:cNvPr>
          <p:cNvCxnSpPr>
            <a:cxnSpLocks/>
          </p:cNvCxnSpPr>
          <p:nvPr/>
        </p:nvCxnSpPr>
        <p:spPr>
          <a:xfrm>
            <a:off x="11673697" y="1126733"/>
            <a:ext cx="0" cy="48073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3DC184B-DD01-4893-A996-EA6E3B6EF47B}"/>
              </a:ext>
            </a:extLst>
          </p:cNvPr>
          <p:cNvSpPr txBox="1"/>
          <p:nvPr/>
        </p:nvSpPr>
        <p:spPr>
          <a:xfrm>
            <a:off x="9609826" y="6040959"/>
            <a:ext cx="21881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2025.</a:t>
            </a:r>
            <a:r>
              <a:rPr lang="en-US" altLang="ko-KR" sz="32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11.13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21433" y="489915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0" dirty="0" smtClean="0">
                <a:solidFill>
                  <a:schemeClr val="bg2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HPD</a:t>
            </a:r>
            <a:endParaRPr lang="ko-KR" altLang="en-US" b="1" i="0" dirty="0">
              <a:solidFill>
                <a:schemeClr val="bg2">
                  <a:lumMod val="5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80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E7B5A8B-0342-452D-B087-941271395666}"/>
              </a:ext>
            </a:extLst>
          </p:cNvPr>
          <p:cNvGrpSpPr/>
          <p:nvPr/>
        </p:nvGrpSpPr>
        <p:grpSpPr>
          <a:xfrm>
            <a:off x="334508" y="367690"/>
            <a:ext cx="11465239" cy="6122620"/>
            <a:chOff x="334508" y="367690"/>
            <a:chExt cx="11465239" cy="6122620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79847BBE-BD05-4F41-A875-305F82BC0BF2}"/>
                </a:ext>
              </a:extLst>
            </p:cNvPr>
            <p:cNvGrpSpPr/>
            <p:nvPr/>
          </p:nvGrpSpPr>
          <p:grpSpPr>
            <a:xfrm>
              <a:off x="7760361" y="1500951"/>
              <a:ext cx="1988587" cy="4236369"/>
              <a:chOff x="7949047" y="836889"/>
              <a:chExt cx="1988587" cy="4236369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B6EA8890-F1FE-4698-86C2-BC0E0A5F5E72}"/>
                  </a:ext>
                </a:extLst>
              </p:cNvPr>
              <p:cNvGrpSpPr/>
              <p:nvPr/>
            </p:nvGrpSpPr>
            <p:grpSpPr>
              <a:xfrm>
                <a:off x="7949047" y="836889"/>
                <a:ext cx="1328640" cy="876432"/>
                <a:chOff x="7949047" y="836889"/>
                <a:chExt cx="1328640" cy="876432"/>
              </a:xfrm>
            </p:grpSpPr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6884770E-10F6-4BFE-94B3-426B4F406B1E}"/>
                    </a:ext>
                  </a:extLst>
                </p:cNvPr>
                <p:cNvSpPr/>
                <p:nvPr/>
              </p:nvSpPr>
              <p:spPr>
                <a:xfrm>
                  <a:off x="7949047" y="836889"/>
                  <a:ext cx="1226348" cy="235558"/>
                </a:xfrm>
                <a:prstGeom prst="rect">
                  <a:avLst/>
                </a:prstGeom>
              </p:spPr>
              <p:txBody>
                <a:bodyPr wrap="none" lIns="54000" tIns="25200" rIns="54000" bIns="25200">
                  <a:spAutoFit/>
                </a:bodyPr>
                <a:lstStyle/>
                <a:p>
                  <a:r>
                    <a:rPr lang="en-US" altLang="ko-KR" sz="1200" kern="100" spc="-10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01  /  </a:t>
                  </a:r>
                  <a:r>
                    <a:rPr lang="ko-KR" altLang="en-US" sz="1200" kern="100" spc="-10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프로젝트 소개</a:t>
                  </a:r>
                  <a:endParaRPr lang="en-US" altLang="ko-KR" sz="1200" kern="100" spc="-100" dirty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endParaRPr>
                </a:p>
              </p:txBody>
            </p: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19BDC02-22E9-4E42-B75F-E9ED0BDF5258}"/>
                    </a:ext>
                  </a:extLst>
                </p:cNvPr>
                <p:cNvSpPr/>
                <p:nvPr/>
              </p:nvSpPr>
              <p:spPr>
                <a:xfrm>
                  <a:off x="8271592" y="1108431"/>
                  <a:ext cx="1006095" cy="604890"/>
                </a:xfrm>
                <a:prstGeom prst="rect">
                  <a:avLst/>
                </a:prstGeom>
              </p:spPr>
              <p:txBody>
                <a:bodyPr wrap="none" lIns="54000" tIns="25200" rIns="54000" bIns="25200">
                  <a:spAutoFit/>
                </a:bodyPr>
                <a:lstStyle/>
                <a:p>
                  <a:r>
                    <a:rPr lang="en-US" altLang="ko-KR" sz="1200" kern="100" spc="-7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</a:t>
                  </a:r>
                  <a:r>
                    <a:rPr lang="ko-KR" altLang="en-US" sz="1200" kern="100" spc="-7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주제</a:t>
                  </a:r>
                  <a:endParaRPr lang="en-US" altLang="ko-KR" sz="1200" kern="100" spc="-70" dirty="0" smtClean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  <a:p>
                  <a:r>
                    <a:rPr lang="en-US" altLang="ko-KR" sz="1200" kern="100" spc="-7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</a:t>
                  </a:r>
                  <a:r>
                    <a:rPr lang="ko-KR" altLang="en-US" sz="1200" kern="100" spc="-7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문제정의</a:t>
                  </a:r>
                  <a:endParaRPr lang="en-US" altLang="ko-KR" sz="1200" kern="100" spc="-70" dirty="0" smtClean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  <a:p>
                  <a:r>
                    <a:rPr lang="en-US" altLang="ko-KR" sz="1200" kern="100" spc="-7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</a:t>
                  </a:r>
                  <a:r>
                    <a:rPr lang="ko-KR" altLang="en-US" sz="1200" kern="100" spc="-7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행복의 수치화</a:t>
                  </a:r>
                  <a:endParaRPr lang="en-US" altLang="ko-KR" sz="1200" kern="100" spc="-70" dirty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</p:grp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27D4DBCD-D951-4BC7-8DCA-36B3F80570BC}"/>
                  </a:ext>
                </a:extLst>
              </p:cNvPr>
              <p:cNvGrpSpPr/>
              <p:nvPr/>
            </p:nvGrpSpPr>
            <p:grpSpPr>
              <a:xfrm>
                <a:off x="7949047" y="2516857"/>
                <a:ext cx="1988587" cy="876432"/>
                <a:chOff x="7949047" y="2921721"/>
                <a:chExt cx="1988587" cy="876432"/>
              </a:xfrm>
            </p:grpSpPr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480CFAD3-81E9-4CF1-82F1-2E0F3E2CD0D9}"/>
                    </a:ext>
                  </a:extLst>
                </p:cNvPr>
                <p:cNvSpPr/>
                <p:nvPr/>
              </p:nvSpPr>
              <p:spPr>
                <a:xfrm>
                  <a:off x="7949047" y="2921721"/>
                  <a:ext cx="694151" cy="235558"/>
                </a:xfrm>
                <a:prstGeom prst="rect">
                  <a:avLst/>
                </a:prstGeom>
              </p:spPr>
              <p:txBody>
                <a:bodyPr wrap="none" lIns="54000" tIns="25200" rIns="54000" bIns="25200">
                  <a:spAutoFit/>
                </a:bodyPr>
                <a:lstStyle/>
                <a:p>
                  <a:pPr lvl="0"/>
                  <a:r>
                    <a:rPr lang="en-US" altLang="ko-KR" sz="1200" kern="100" spc="-10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02  /  </a:t>
                  </a:r>
                  <a:r>
                    <a:rPr lang="ko-KR" altLang="en-US" sz="1200" kern="100" spc="-10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분석</a:t>
                  </a:r>
                  <a:endParaRPr lang="en-US" altLang="ko-KR" sz="1200" kern="100" spc="-100" dirty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endParaRPr>
                </a:p>
              </p:txBody>
            </p:sp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14B5E934-77BF-4C36-A85C-8A8E0153B839}"/>
                    </a:ext>
                  </a:extLst>
                </p:cNvPr>
                <p:cNvSpPr/>
                <p:nvPr/>
              </p:nvSpPr>
              <p:spPr>
                <a:xfrm>
                  <a:off x="8283733" y="3193263"/>
                  <a:ext cx="1653901" cy="604890"/>
                </a:xfrm>
                <a:prstGeom prst="rect">
                  <a:avLst/>
                </a:prstGeom>
              </p:spPr>
              <p:txBody>
                <a:bodyPr wrap="none" lIns="54000" tIns="25200" rIns="54000" bIns="25200">
                  <a:spAutoFit/>
                </a:bodyPr>
                <a:lstStyle/>
                <a:p>
                  <a:r>
                    <a:rPr lang="en-US" altLang="ko-KR" sz="1200" kern="100" spc="-7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Insert first text here</a:t>
                  </a:r>
                </a:p>
                <a:p>
                  <a:r>
                    <a:rPr lang="en-US" altLang="ko-KR" sz="1200" kern="100" spc="-7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Insert second text here</a:t>
                  </a:r>
                </a:p>
                <a:p>
                  <a:r>
                    <a:rPr lang="en-US" altLang="ko-KR" sz="1200" kern="100" spc="-7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Insert third text here</a:t>
                  </a: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4102FD2F-526F-4D4D-A6EF-1B0E34F1DD42}"/>
                  </a:ext>
                </a:extLst>
              </p:cNvPr>
              <p:cNvGrpSpPr/>
              <p:nvPr/>
            </p:nvGrpSpPr>
            <p:grpSpPr>
              <a:xfrm>
                <a:off x="7949047" y="4196826"/>
                <a:ext cx="1988382" cy="876432"/>
                <a:chOff x="7949047" y="5006553"/>
                <a:chExt cx="1988382" cy="876432"/>
              </a:xfrm>
            </p:grpSpPr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D9751385-B714-412B-8966-EB02ADDD7182}"/>
                    </a:ext>
                  </a:extLst>
                </p:cNvPr>
                <p:cNvSpPr/>
                <p:nvPr/>
              </p:nvSpPr>
              <p:spPr>
                <a:xfrm>
                  <a:off x="7949047" y="5006553"/>
                  <a:ext cx="1109329" cy="235558"/>
                </a:xfrm>
                <a:prstGeom prst="rect">
                  <a:avLst/>
                </a:prstGeom>
              </p:spPr>
              <p:txBody>
                <a:bodyPr wrap="none" lIns="54000" tIns="25200" rIns="54000" bIns="25200">
                  <a:spAutoFit/>
                </a:bodyPr>
                <a:lstStyle/>
                <a:p>
                  <a:pPr lvl="0"/>
                  <a:r>
                    <a:rPr lang="en-US" altLang="ko-KR" sz="1200" kern="100" spc="-10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03  /  </a:t>
                  </a:r>
                  <a:r>
                    <a:rPr lang="ko-KR" altLang="en-US" sz="1200" kern="100" spc="-100" dirty="0" smtClean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분석 결과</a:t>
                  </a:r>
                  <a:endParaRPr lang="en-US" altLang="ko-KR" sz="1200" kern="100" spc="-100" dirty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endParaRPr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6515EC8-4007-4808-8664-8D8E2C47E9EF}"/>
                    </a:ext>
                  </a:extLst>
                </p:cNvPr>
                <p:cNvSpPr/>
                <p:nvPr/>
              </p:nvSpPr>
              <p:spPr>
                <a:xfrm>
                  <a:off x="8283528" y="5278095"/>
                  <a:ext cx="1653901" cy="604890"/>
                </a:xfrm>
                <a:prstGeom prst="rect">
                  <a:avLst/>
                </a:prstGeom>
              </p:spPr>
              <p:txBody>
                <a:bodyPr wrap="none" lIns="54000" tIns="25200" rIns="54000" bIns="25200">
                  <a:spAutoFit/>
                </a:bodyPr>
                <a:lstStyle/>
                <a:p>
                  <a:r>
                    <a:rPr lang="en-US" altLang="ko-KR" sz="1200" kern="100" spc="-7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Insert first text here</a:t>
                  </a:r>
                </a:p>
                <a:p>
                  <a:r>
                    <a:rPr lang="en-US" altLang="ko-KR" sz="1200" kern="100" spc="-7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Insert second text here</a:t>
                  </a:r>
                </a:p>
                <a:p>
                  <a:r>
                    <a:rPr lang="en-US" altLang="ko-KR" sz="1200" kern="100" spc="-70" dirty="0">
                      <a:ln w="3175" cap="rnd"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 Insert third text here</a:t>
                  </a:r>
                </a:p>
              </p:txBody>
            </p:sp>
          </p:grp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29CCDE-C741-4259-A988-5684FC125EF9}"/>
                </a:ext>
              </a:extLst>
            </p:cNvPr>
            <p:cNvSpPr txBox="1"/>
            <p:nvPr/>
          </p:nvSpPr>
          <p:spPr>
            <a:xfrm>
              <a:off x="527992" y="6213311"/>
              <a:ext cx="34344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kern="10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https://de05164.pythonanywhere.com/</a:t>
              </a:r>
              <a:endParaRPr lang="en-US" altLang="ko-KR" sz="1200" kern="10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99F2E69-322F-4C05-A420-5F6D27C38497}"/>
                </a:ext>
              </a:extLst>
            </p:cNvPr>
            <p:cNvGrpSpPr/>
            <p:nvPr/>
          </p:nvGrpSpPr>
          <p:grpSpPr>
            <a:xfrm>
              <a:off x="11366469" y="5630566"/>
              <a:ext cx="433278" cy="833333"/>
              <a:chOff x="11611429" y="5882986"/>
              <a:chExt cx="433278" cy="83333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628A06-8005-4EDC-9C1E-67C9A8FFDB67}"/>
                  </a:ext>
                </a:extLst>
              </p:cNvPr>
              <p:cNvSpPr txBox="1"/>
              <p:nvPr/>
            </p:nvSpPr>
            <p:spPr>
              <a:xfrm>
                <a:off x="11611429" y="6069988"/>
                <a:ext cx="43327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kern="100" spc="-70" dirty="0" smtClean="0">
                    <a:ln w="3175" cap="rnd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01</a:t>
                </a:r>
                <a:endParaRPr lang="en-US" altLang="ko-KR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73B3B10-A738-443A-A5C3-A9D186305164}"/>
                  </a:ext>
                </a:extLst>
              </p:cNvPr>
              <p:cNvSpPr/>
              <p:nvPr/>
            </p:nvSpPr>
            <p:spPr>
              <a:xfrm>
                <a:off x="11694253" y="5882986"/>
                <a:ext cx="350454" cy="10675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19FAA02-5912-4594-8B7D-E0BDCFAC6B3E}"/>
                </a:ext>
              </a:extLst>
            </p:cNvPr>
            <p:cNvSpPr/>
            <p:nvPr/>
          </p:nvSpPr>
          <p:spPr>
            <a:xfrm>
              <a:off x="334508" y="367690"/>
              <a:ext cx="5095422" cy="69609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4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목차</a:t>
              </a:r>
              <a:endParaRPr lang="ko-KR" altLang="en-US" sz="44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>
            <a:off x="527992" y="5956067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0" dirty="0" smtClean="0">
                <a:solidFill>
                  <a:schemeClr val="bg2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HPD</a:t>
            </a:r>
            <a:endParaRPr lang="ko-KR" altLang="en-US" b="1" i="0" dirty="0">
              <a:solidFill>
                <a:schemeClr val="bg2">
                  <a:lumMod val="5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08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6856707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주제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508886" y="3046385"/>
            <a:ext cx="10166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</a:t>
            </a:r>
            <a:endParaRPr lang="ko-KR" altLang="en-US" sz="3200" dirty="0" smtClean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153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3510129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문제정의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208038" y="1434786"/>
            <a:ext cx="52382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우리나라는 </a:t>
            </a:r>
            <a:r>
              <a:rPr lang="ko-KR" altLang="en-US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경제적으로 상위권 이지만</a:t>
            </a:r>
            <a:endParaRPr lang="en-US" altLang="ko-KR" sz="20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상대적으로</a:t>
            </a:r>
            <a:r>
              <a:rPr lang="en-US" altLang="ko-KR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낮은 행복지수</a:t>
            </a:r>
            <a:r>
              <a:rPr lang="ko-KR" altLang="en-US" sz="2000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가지고 있음</a:t>
            </a:r>
            <a:endParaRPr lang="en-US" altLang="ko-KR" sz="2000" b="1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t="5870"/>
          <a:stretch/>
        </p:blipFill>
        <p:spPr>
          <a:xfrm>
            <a:off x="334507" y="1224669"/>
            <a:ext cx="5873531" cy="4895174"/>
          </a:xfrm>
          <a:prstGeom prst="rect">
            <a:avLst/>
          </a:prstGeom>
        </p:spPr>
      </p:pic>
      <p:pic>
        <p:nvPicPr>
          <p:cNvPr id="1026" name="Picture 2" descr="경제 10위 한국, 행복지수는 OECD 37개국 중 35위 | 한국경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033" y="2513679"/>
            <a:ext cx="2857500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1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6856707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문제정의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649580" y="0"/>
            <a:ext cx="6542420" cy="6858000"/>
            <a:chOff x="5649580" y="0"/>
            <a:chExt cx="6542420" cy="685800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7440" y="0"/>
              <a:ext cx="2194560" cy="685800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439" r="11665" b="12169"/>
            <a:stretch/>
          </p:blipFill>
          <p:spPr>
            <a:xfrm>
              <a:off x="5743691" y="2024873"/>
              <a:ext cx="4732329" cy="2409371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10" name="직사각형 9"/>
            <p:cNvSpPr/>
            <p:nvPr/>
          </p:nvSpPr>
          <p:spPr>
            <a:xfrm>
              <a:off x="9557379" y="5133011"/>
              <a:ext cx="2540509" cy="524652"/>
            </a:xfrm>
            <a:prstGeom prst="rect">
              <a:avLst/>
            </a:prstGeom>
            <a:noFill/>
            <a:ln w="57150" cap="rnd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700" kern="100" spc="-8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 flipV="1">
              <a:off x="5649580" y="4434244"/>
              <a:ext cx="3907799" cy="69876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 flipH="1" flipV="1">
              <a:off x="10476020" y="4434244"/>
              <a:ext cx="1621868" cy="6987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직사각형 12"/>
          <p:cNvSpPr/>
          <p:nvPr/>
        </p:nvSpPr>
        <p:spPr>
          <a:xfrm>
            <a:off x="334507" y="1702018"/>
            <a:ext cx="50033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GWP 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기준 데이터</a:t>
            </a:r>
            <a:endParaRPr lang="en-US" altLang="ko-KR" dirty="0" smtClean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OECD 38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개국 </a:t>
            </a:r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2019~22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평균 행복 지수 비교</a:t>
            </a:r>
            <a:endParaRPr lang="en-US" altLang="ko-KR" dirty="0" smtClean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 </a:t>
            </a:r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38</a:t>
            </a:r>
            <a:r>
              <a:rPr lang="ko-KR" altLang="en-US" dirty="0" err="1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개국중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35</a:t>
            </a:r>
            <a:r>
              <a:rPr lang="ko-KR" altLang="en-US" dirty="0" smtClean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등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으로 </a:t>
            </a:r>
            <a:endParaRPr lang="en-US" altLang="ko-KR" dirty="0" smtClean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 smtClean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OECD 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국가중 한국의 행복지수는 </a:t>
            </a:r>
            <a:endParaRPr lang="en-US" altLang="ko-KR" dirty="0" smtClean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최하위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 속하는 것으로 </a:t>
            </a:r>
            <a:r>
              <a:rPr lang="ko-KR" altLang="en-US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확인됨</a:t>
            </a:r>
            <a:endParaRPr lang="en-US" altLang="ko-KR" dirty="0" smtClean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아시아 국가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개국 중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13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등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인당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GDP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는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등이지만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인당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GDP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대비 행복지수는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37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등이다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이는 우리나라 소득수준의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높은데에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비해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행복하지 않은 것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을 알 수 있다</a:t>
            </a:r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54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8" y="1138810"/>
            <a:ext cx="2742068" cy="696090"/>
          </a:xfrm>
          <a:prstGeom prst="roundRect">
            <a:avLst>
              <a:gd name="adj" fmla="val 739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한국인의 삶의 만족도</a:t>
            </a:r>
            <a:endParaRPr lang="ko-KR" altLang="en-US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34507" y="1770850"/>
            <a:ext cx="68028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한국행정연구원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「</a:t>
            </a:r>
            <a:r>
              <a:rPr lang="ko-KR" altLang="en-US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사회통합실태조사</a:t>
            </a:r>
            <a:r>
              <a:rPr lang="ko-KR" altLang="en-US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」의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데이터분석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현재의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삶에 만족하는 정도를 보여주는 지표로 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개인의 </a:t>
            </a:r>
            <a:r>
              <a:rPr lang="ko-KR" altLang="en-US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전반적인 삶에 대해 주관적인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만족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정도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측정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247107" y="2694180"/>
            <a:ext cx="8521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2015~ 2024</a:t>
            </a:r>
            <a:r>
              <a:rPr lang="ko-KR" altLang="en-US" b="1" dirty="0" smtClean="0"/>
              <a:t>년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기준 삶에 대한 만족도는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2023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점과 동일하고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2013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5.7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점에서 증가 추세를 보이고 있다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남자와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여자 모두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성별 간 차이는 없으며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연령대별로는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60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세 이상에서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6.3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가장 낮다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국제비교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결과를 보면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2022~2024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한국은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6.04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핀란드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(7.74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),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덴마크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(7.52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),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아이슬란드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(7.52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등에 비해 낮은 수준이다</a:t>
            </a:r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 </a:t>
            </a:r>
            <a:endParaRPr lang="ko-KR" altLang="en-US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38" y="2865604"/>
            <a:ext cx="6139462" cy="324175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746875" y="3326220"/>
            <a:ext cx="482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국제비교 결과를 보면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</a:p>
          <a:p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2022~2024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한국은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6.04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</a:t>
            </a:r>
            <a:endParaRPr lang="en-US" altLang="ko-KR" dirty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핀란드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(7.74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),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덴마크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(7.52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아이슬란드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(7.52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등에 비해 </a:t>
            </a:r>
            <a:r>
              <a:rPr lang="ko-KR" altLang="en-US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낮은 수준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이다</a:t>
            </a:r>
            <a:endParaRPr lang="ko-KR" altLang="en-US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6856707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문제정의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01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539457" y="3274729"/>
            <a:ext cx="3263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한국은 왜 행복하지 않을까</a:t>
            </a:r>
            <a:r>
              <a:rPr lang="en-US" altLang="ko-KR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</a:t>
            </a:r>
            <a:endParaRPr lang="en-US" altLang="ko-KR" sz="2000" b="1" dirty="0" smtClean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165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0">
            <a:extLst>
              <a:ext uri="{FF2B5EF4-FFF2-40B4-BE49-F238E27FC236}">
                <a16:creationId xmlns:a16="http://schemas.microsoft.com/office/drawing/2014/main" id="{0AB40228-DA23-4B45-88B3-D8DFE4F52ABF}"/>
              </a:ext>
            </a:extLst>
          </p:cNvPr>
          <p:cNvSpPr/>
          <p:nvPr/>
        </p:nvSpPr>
        <p:spPr>
          <a:xfrm>
            <a:off x="3548289" y="353177"/>
            <a:ext cx="5095422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 목표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08A302-F530-435C-9500-D1F545982BA5}"/>
              </a:ext>
            </a:extLst>
          </p:cNvPr>
          <p:cNvGrpSpPr/>
          <p:nvPr/>
        </p:nvGrpSpPr>
        <p:grpSpPr>
          <a:xfrm>
            <a:off x="527992" y="6047233"/>
            <a:ext cx="2044700" cy="443077"/>
            <a:chOff x="2097167" y="2852701"/>
            <a:chExt cx="2044700" cy="4430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DF2C44-05E7-416E-A3F6-AE4465500AC9}"/>
                </a:ext>
              </a:extLst>
            </p:cNvPr>
            <p:cNvSpPr txBox="1"/>
            <p:nvPr/>
          </p:nvSpPr>
          <p:spPr>
            <a:xfrm>
              <a:off x="2097167" y="3018779"/>
              <a:ext cx="20447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kern="10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www.papatalabs.com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153AEB7-F994-4DCE-AB65-BB2FBE042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8067" y="2852701"/>
              <a:ext cx="1197638" cy="166078"/>
            </a:xfrm>
            <a:prstGeom prst="rect">
              <a:avLst/>
            </a:prstGeom>
          </p:spPr>
        </p:pic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59C549-EC35-4015-A72F-69EDBE9AD991}"/>
              </a:ext>
            </a:extLst>
          </p:cNvPr>
          <p:cNvSpPr/>
          <p:nvPr/>
        </p:nvSpPr>
        <p:spPr>
          <a:xfrm rot="5400000">
            <a:off x="-523210" y="3178762"/>
            <a:ext cx="2225516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dist"/>
            <a:r>
              <a:rPr lang="en-US" altLang="ko-KR" sz="8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COPYRIGHT </a:t>
            </a:r>
            <a:r>
              <a:rPr lang="ko-KR" altLang="en-US" sz="8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ⓒ </a:t>
            </a:r>
            <a:r>
              <a:rPr lang="en-US" altLang="ko-KR" sz="8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ALL RIGHT RESERVED BY PAPATALABS</a:t>
            </a:r>
            <a:endParaRPr lang="ko-KR" altLang="en-US" sz="8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1BE71EF-4575-4235-93A4-E79EC842C55B}"/>
              </a:ext>
            </a:extLst>
          </p:cNvPr>
          <p:cNvGrpSpPr/>
          <p:nvPr/>
        </p:nvGrpSpPr>
        <p:grpSpPr>
          <a:xfrm>
            <a:off x="11366469" y="5630566"/>
            <a:ext cx="433278" cy="833333"/>
            <a:chOff x="11611429" y="5882986"/>
            <a:chExt cx="433278" cy="8333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937EF-901C-40EE-A2BE-355C4AFAD7C4}"/>
                </a:ext>
              </a:extLst>
            </p:cNvPr>
            <p:cNvSpPr txBox="1"/>
            <p:nvPr/>
          </p:nvSpPr>
          <p:spPr>
            <a:xfrm>
              <a:off x="11611429" y="6069988"/>
              <a:ext cx="4332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04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455F48E-C614-4AD4-B976-963A9653C932}"/>
                </a:ext>
              </a:extLst>
            </p:cNvPr>
            <p:cNvSpPr/>
            <p:nvPr/>
          </p:nvSpPr>
          <p:spPr>
            <a:xfrm>
              <a:off x="11694253" y="5882986"/>
              <a:ext cx="350454" cy="10675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0AA467-D284-4160-A535-A482051B0FE6}"/>
              </a:ext>
            </a:extLst>
          </p:cNvPr>
          <p:cNvSpPr/>
          <p:nvPr/>
        </p:nvSpPr>
        <p:spPr>
          <a:xfrm>
            <a:off x="-63712" y="7057883"/>
            <a:ext cx="59107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     </a:t>
            </a:r>
            <a:r>
              <a:rPr lang="ko-KR" altLang="en-US" dirty="0"/>
              <a:t>한국인 행복지수가 낮게 나온 요인 무엇인가</a:t>
            </a:r>
            <a:r>
              <a:rPr lang="en-US" altLang="ko-KR" dirty="0"/>
              <a:t>?</a:t>
            </a:r>
          </a:p>
          <a:p>
            <a:pPr marL="342900" indent="-342900">
              <a:buFontTx/>
              <a:buChar char="-"/>
            </a:pPr>
            <a:r>
              <a:rPr lang="ko-KR" altLang="en-US" dirty="0"/>
              <a:t>한국인의 삶의 무엇이 중요한 요소로 작용하는가</a:t>
            </a:r>
            <a:r>
              <a:rPr lang="en-US" altLang="ko-KR" dirty="0"/>
              <a:t>?</a:t>
            </a:r>
          </a:p>
          <a:p>
            <a:pPr marL="342900" indent="-342900">
              <a:buFontTx/>
              <a:buChar char="-"/>
            </a:pPr>
            <a:r>
              <a:rPr lang="ko-KR" altLang="en-US" dirty="0"/>
              <a:t>분석결과로 어떤 </a:t>
            </a:r>
            <a:r>
              <a:rPr lang="ko-KR" altLang="en-US" dirty="0" err="1"/>
              <a:t>인사이트를</a:t>
            </a:r>
            <a:r>
              <a:rPr lang="ko-KR" altLang="en-US" dirty="0"/>
              <a:t> </a:t>
            </a:r>
            <a:r>
              <a:rPr lang="ko-KR" altLang="en-US" dirty="0" err="1"/>
              <a:t>얻을수있는가</a:t>
            </a:r>
            <a:endParaRPr lang="en-US" altLang="ko-KR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4CA0050-096C-4049-8551-41D25674904D}"/>
              </a:ext>
            </a:extLst>
          </p:cNvPr>
          <p:cNvSpPr/>
          <p:nvPr/>
        </p:nvSpPr>
        <p:spPr>
          <a:xfrm>
            <a:off x="1659958" y="2097078"/>
            <a:ext cx="2692876" cy="2692876"/>
          </a:xfrm>
          <a:prstGeom prst="ellipse">
            <a:avLst/>
          </a:prstGeom>
          <a:noFill/>
          <a:ln w="254000">
            <a:solidFill>
              <a:schemeClr val="tx1">
                <a:lumMod val="85000"/>
                <a:lumOff val="1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E135580-4A5B-4F08-8830-8DAE1C97AA35}"/>
              </a:ext>
            </a:extLst>
          </p:cNvPr>
          <p:cNvSpPr/>
          <p:nvPr/>
        </p:nvSpPr>
        <p:spPr>
          <a:xfrm>
            <a:off x="4749562" y="2097078"/>
            <a:ext cx="2692876" cy="2692876"/>
          </a:xfrm>
          <a:prstGeom prst="ellipse">
            <a:avLst/>
          </a:prstGeom>
          <a:noFill/>
          <a:ln w="254000">
            <a:solidFill>
              <a:srgbClr val="D9D9D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67AB01E-2A58-42D1-B89B-07072DBBAB89}"/>
              </a:ext>
            </a:extLst>
          </p:cNvPr>
          <p:cNvSpPr/>
          <p:nvPr/>
        </p:nvSpPr>
        <p:spPr>
          <a:xfrm>
            <a:off x="7839165" y="2097078"/>
            <a:ext cx="2692876" cy="2692876"/>
          </a:xfrm>
          <a:prstGeom prst="ellipse">
            <a:avLst/>
          </a:prstGeom>
          <a:noFill/>
          <a:ln w="254000">
            <a:solidFill>
              <a:schemeClr val="tx1">
                <a:lumMod val="85000"/>
                <a:lumOff val="1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661065B-9613-4459-A5D1-04AFA17E8930}"/>
              </a:ext>
            </a:extLst>
          </p:cNvPr>
          <p:cNvGrpSpPr/>
          <p:nvPr/>
        </p:nvGrpSpPr>
        <p:grpSpPr>
          <a:xfrm>
            <a:off x="2016738" y="2722126"/>
            <a:ext cx="1979316" cy="1317041"/>
            <a:chOff x="2419575" y="2579019"/>
            <a:chExt cx="1979316" cy="13170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059D89-5BCB-4CDF-A81D-A7F35CB2AF79}"/>
                </a:ext>
              </a:extLst>
            </p:cNvPr>
            <p:cNvSpPr txBox="1"/>
            <p:nvPr/>
          </p:nvSpPr>
          <p:spPr>
            <a:xfrm>
              <a:off x="2419575" y="3311285"/>
              <a:ext cx="197931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나라별 </a:t>
              </a:r>
              <a:r>
                <a:rPr lang="ko-KR" altLang="en-US" sz="1600" kern="100" spc="-70" dirty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</a:t>
              </a: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행복지수 </a:t>
              </a:r>
              <a:endParaRPr lang="en-US" altLang="ko-KR" sz="1600" kern="100" spc="-70" dirty="0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defRPr/>
              </a:pPr>
              <a:r>
                <a:rPr lang="ko-KR" altLang="en-US" sz="1600" kern="100" spc="-70" dirty="0" err="1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행복요인</a:t>
              </a: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분석 및 결론</a:t>
              </a:r>
              <a:endParaRPr lang="en-US" altLang="ko-KR" sz="1600" kern="100" spc="-70" dirty="0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994E136-8109-48D3-BBEC-E54447DE29BB}"/>
                </a:ext>
              </a:extLst>
            </p:cNvPr>
            <p:cNvSpPr/>
            <p:nvPr/>
          </p:nvSpPr>
          <p:spPr>
            <a:xfrm>
              <a:off x="3160232" y="2579019"/>
              <a:ext cx="49800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01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E4BE059-9F1D-441C-A7DE-0456CFE05AEB}"/>
              </a:ext>
            </a:extLst>
          </p:cNvPr>
          <p:cNvGrpSpPr/>
          <p:nvPr/>
        </p:nvGrpSpPr>
        <p:grpSpPr>
          <a:xfrm>
            <a:off x="5106342" y="2722126"/>
            <a:ext cx="1979316" cy="1317041"/>
            <a:chOff x="2419575" y="2579019"/>
            <a:chExt cx="1979316" cy="131704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E5B620-4A88-46CB-A5F0-D38FAA331184}"/>
                </a:ext>
              </a:extLst>
            </p:cNvPr>
            <p:cNvSpPr txBox="1"/>
            <p:nvPr/>
          </p:nvSpPr>
          <p:spPr>
            <a:xfrm>
              <a:off x="2419575" y="3311285"/>
              <a:ext cx="197931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한국인의 삶의 만족도</a:t>
              </a:r>
              <a:endParaRPr lang="en-US" altLang="ko-KR" sz="1600" kern="100" spc="-70" dirty="0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defRPr/>
              </a:pP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요인 분석 </a:t>
              </a: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및 결론</a:t>
              </a:r>
              <a:endParaRPr lang="en-US" altLang="ko-KR" sz="1600" kern="100" spc="-70" dirty="0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BA9D0D7-7DC0-4167-A580-815CF0F88A30}"/>
                </a:ext>
              </a:extLst>
            </p:cNvPr>
            <p:cNvSpPr/>
            <p:nvPr/>
          </p:nvSpPr>
          <p:spPr>
            <a:xfrm>
              <a:off x="3160233" y="2579019"/>
              <a:ext cx="4980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02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AA54933-7C5A-4198-9E2F-880FB29E7461}"/>
              </a:ext>
            </a:extLst>
          </p:cNvPr>
          <p:cNvGrpSpPr/>
          <p:nvPr/>
        </p:nvGrpSpPr>
        <p:grpSpPr>
          <a:xfrm>
            <a:off x="8195946" y="2722126"/>
            <a:ext cx="1979316" cy="1070820"/>
            <a:chOff x="2419575" y="2579019"/>
            <a:chExt cx="1979316" cy="10708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FCBE83-C466-4538-8EB9-215EA59DFF83}"/>
                </a:ext>
              </a:extLst>
            </p:cNvPr>
            <p:cNvSpPr txBox="1"/>
            <p:nvPr/>
          </p:nvSpPr>
          <p:spPr>
            <a:xfrm>
              <a:off x="2419575" y="3311285"/>
              <a:ext cx="19793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600" kern="100" spc="-70" dirty="0" smtClean="0">
                  <a:ln w="3175" cap="rnd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활용</a:t>
              </a:r>
              <a:endParaRPr lang="en-US" altLang="ko-KR" sz="1600" kern="100" spc="-70" dirty="0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B7DDF93-DE56-4F51-BA1A-1770E0E1EF1A}"/>
                </a:ext>
              </a:extLst>
            </p:cNvPr>
            <p:cNvSpPr/>
            <p:nvPr/>
          </p:nvSpPr>
          <p:spPr>
            <a:xfrm>
              <a:off x="3160233" y="2579019"/>
              <a:ext cx="4980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16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461507" y="3725662"/>
            <a:ext cx="4262893" cy="6960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 범주</a:t>
            </a:r>
            <a:endParaRPr lang="ko-KR" alt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7FF86-871D-4566-BD6B-F640E00AA98D}"/>
              </a:ext>
            </a:extLst>
          </p:cNvPr>
          <p:cNvSpPr txBox="1"/>
          <p:nvPr/>
        </p:nvSpPr>
        <p:spPr>
          <a:xfrm>
            <a:off x="11366469" y="5817568"/>
            <a:ext cx="433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0FBA50-E1F2-4E43-B740-B573D0700D07}"/>
              </a:ext>
            </a:extLst>
          </p:cNvPr>
          <p:cNvSpPr/>
          <p:nvPr/>
        </p:nvSpPr>
        <p:spPr>
          <a:xfrm>
            <a:off x="11449293" y="5630566"/>
            <a:ext cx="350454" cy="1067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61507" y="4507160"/>
            <a:ext cx="49960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나라별 행복지수 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2019~2024</a:t>
            </a:r>
          </a:p>
          <a:p>
            <a:pPr marL="285750" indent="-285750">
              <a:buFontTx/>
              <a:buChar char="-"/>
            </a:pP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 삶의 질 평가 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 2019~2024</a:t>
            </a: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5876311" y="3725662"/>
            <a:ext cx="2531089" cy="6960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한계점</a:t>
            </a:r>
            <a:endParaRPr lang="ko-KR" altLang="en-US" sz="2800" dirty="0"/>
          </a:p>
        </p:txBody>
      </p:sp>
      <p:sp>
        <p:nvSpPr>
          <p:cNvPr id="10" name="직사각형 9"/>
          <p:cNvSpPr/>
          <p:nvPr/>
        </p:nvSpPr>
        <p:spPr>
          <a:xfrm>
            <a:off x="5876311" y="4507160"/>
            <a:ext cx="49960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2025</a:t>
            </a:r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 데이터의 부재로 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/>
            </a:r>
            <a:b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2024</a:t>
            </a:r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 이전 자료를 이용</a:t>
            </a:r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하여 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474207" y="535120"/>
            <a:ext cx="4034293" cy="6960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가용 데이터</a:t>
            </a:r>
            <a:endParaRPr lang="ko-KR" altLang="en-US" sz="2800" dirty="0"/>
          </a:p>
        </p:txBody>
      </p:sp>
      <p:sp>
        <p:nvSpPr>
          <p:cNvPr id="12" name="직사각형 11"/>
          <p:cNvSpPr/>
          <p:nvPr/>
        </p:nvSpPr>
        <p:spPr>
          <a:xfrm>
            <a:off x="474207" y="1231210"/>
            <a:ext cx="42501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나라별 </a:t>
            </a:r>
            <a:r>
              <a:rPr lang="ko-KR" altLang="en-US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행복요인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분석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유엔의 </a:t>
            </a:r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세계 행복 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보고서가 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/>
            </a:r>
            <a:b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</a:b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주로 사용하고 있는 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GWP </a:t>
            </a:r>
            <a:r>
              <a:rPr lang="ko-KR" altLang="en-US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행복지표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이용 </a:t>
            </a: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marL="285750" indent="-285750">
              <a:buFontTx/>
              <a:buChar char="-"/>
            </a:pP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한국인의 삶의 만족도 요인 분석</a:t>
            </a: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한국행정연구원의 사회 통합 실태 조사를 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/>
            </a:r>
            <a:b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</a:b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참고한 삶의 만족도 데이터 이용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371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539457" y="3274729"/>
            <a:ext cx="3263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나라별 행복지수 분석</a:t>
            </a:r>
            <a:endParaRPr lang="en-US" altLang="ko-KR" sz="2000" b="1" dirty="0" smtClean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443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486907" y="520090"/>
            <a:ext cx="8885693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GWP </a:t>
            </a:r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기준의 행복</a:t>
            </a:r>
            <a:endParaRPr lang="ko-KR" altLang="en-US" sz="44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28363"/>
              </p:ext>
            </p:extLst>
          </p:nvPr>
        </p:nvGraphicFramePr>
        <p:xfrm>
          <a:off x="690107" y="1427240"/>
          <a:ext cx="11044693" cy="4943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4093">
                  <a:extLst>
                    <a:ext uri="{9D8B030D-6E8A-4147-A177-3AD203B41FA5}">
                      <a16:colId xmlns:a16="http://schemas.microsoft.com/office/drawing/2014/main" val="1840334512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042788848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315942958"/>
                    </a:ext>
                  </a:extLst>
                </a:gridCol>
              </a:tblGrid>
              <a:tr h="5740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행복요소</a:t>
                      </a:r>
                      <a:endParaRPr lang="ko-KR" altLang="en-US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의미</a:t>
                      </a:r>
                      <a:endParaRPr lang="ko-KR" altLang="en-US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155263"/>
                  </a:ext>
                </a:extLst>
              </a:tr>
              <a:tr h="671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인당 </a:t>
                      </a:r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GDP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세계은행의 구매력 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512548"/>
                  </a:ext>
                </a:extLst>
              </a:tr>
              <a:tr h="671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기대수명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세계보건기구의 기대수명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212787"/>
                  </a:ext>
                </a:extLst>
              </a:tr>
              <a:tr h="9590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사회적 지원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문제가 생겼을 때 도움을 줄 수 있는 사람 여부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935555"/>
                  </a:ext>
                </a:extLst>
              </a:tr>
              <a:tr h="7250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4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선택의 자유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삶에서 무엇을 할 것인지 선택할 자유에 만족하는지 여부</a:t>
                      </a:r>
                      <a:endParaRPr lang="ko-KR" altLang="en-US" sz="1800" b="1" i="0" kern="1200" dirty="0">
                        <a:solidFill>
                          <a:schemeClr val="dk1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323115"/>
                  </a:ext>
                </a:extLst>
              </a:tr>
              <a:tr h="671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부패 정도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부패가 만연하다고 생각하는지 여부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108869"/>
                  </a:ext>
                </a:extLst>
              </a:tr>
              <a:tr h="671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6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관대함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기부 여부</a:t>
                      </a:r>
                      <a:r>
                        <a:rPr lang="en-US" altLang="ko-KR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기부지수</a:t>
                      </a:r>
                      <a:r>
                        <a:rPr lang="en-US" altLang="ko-KR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800" b="1" i="0" kern="1200" dirty="0" smtClean="0">
                        <a:solidFill>
                          <a:schemeClr val="dk1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73103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2303145" y="38100"/>
            <a:ext cx="47730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스크립트내용</a:t>
            </a:r>
            <a:r>
              <a:rPr lang="en-US" altLang="ko-KR" dirty="0" smtClean="0"/>
              <a:t>)</a:t>
            </a:r>
            <a:endParaRPr lang="en-US" altLang="ko-KR" dirty="0" smtClean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갤럽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월드 </a:t>
            </a: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폴</a:t>
            </a:r>
            <a:r>
              <a:rPr lang="en-US" altLang="ko-KR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GWP</a:t>
            </a:r>
            <a:r>
              <a:rPr lang="en-US" altLang="ko-KR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를 이용하여 각국의 삶의 만족도 및 이에 영향을 미치는 </a:t>
            </a:r>
            <a:r>
              <a:rPr lang="en-US" altLang="ko-KR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6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 </a:t>
            </a: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요인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을 제시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 </a:t>
            </a:r>
            <a:r>
              <a:rPr lang="en-US" altLang="ko-KR" dirty="0" smtClean="0"/>
              <a:t>6</a:t>
            </a:r>
            <a:r>
              <a:rPr lang="ko-KR" altLang="en-US" dirty="0" err="1" smtClean="0"/>
              <a:t>가지변수는</a:t>
            </a:r>
            <a:r>
              <a:rPr lang="ko-KR" altLang="en-US" dirty="0" smtClean="0"/>
              <a:t> </a:t>
            </a: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주관적 웰빙</a:t>
            </a:r>
            <a:r>
              <a:rPr lang="en-US" altLang="ko-KR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특히 삶의 평가와 유의미한 연관성이 있는 것으로 확인된 요인의 가장 유용한 측정치</a:t>
            </a:r>
            <a:r>
              <a:rPr lang="ko-KR" altLang="en-US" dirty="0" smtClean="0"/>
              <a:t>로 선택했다고 말합니다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조사기관 갤럽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2005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이후 전 세계 </a:t>
            </a:r>
            <a:endParaRPr lang="en-US" altLang="ko-KR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160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여 국가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에서 자료를 수집 하고 있으며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</a:p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각국에서 매년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천 명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정도를 조사</a:t>
            </a:r>
            <a:endParaRPr lang="en-US" altLang="ko-KR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갤럽 월드 폴 데이터는 </a:t>
            </a:r>
            <a:endParaRPr lang="en-US" altLang="ko-KR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유엔의 세계행복보고서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(World Happiness Report)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의 주요 자료로 활용</a:t>
            </a:r>
            <a:endParaRPr lang="en-US" altLang="ko-KR" b="1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87817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768248" y="1371442"/>
            <a:ext cx="585671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행복요인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en-US" altLang="ko-KR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가지를 기준으로 </a:t>
            </a:r>
            <a:endParaRPr lang="en-US" altLang="ko-KR" b="1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전세계평균</a:t>
            </a:r>
            <a:r>
              <a:rPr lang="en-US" altLang="ko-KR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OECD</a:t>
            </a:r>
            <a:r>
              <a:rPr lang="ko-KR" altLang="en-US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평균</a:t>
            </a:r>
            <a:r>
              <a:rPr lang="en-US" altLang="ko-KR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아시아대륙별평균으로 </a:t>
            </a:r>
            <a:endParaRPr lang="en-US" altLang="ko-KR" b="1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데이터를 나눠</a:t>
            </a:r>
            <a:r>
              <a:rPr lang="en-US" altLang="ko-KR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한국의 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차이를 계산하였더니</a:t>
            </a:r>
            <a:endParaRPr lang="en-US" altLang="ko-KR" b="1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공통적으로 낮게 나온 요소는 </a:t>
            </a:r>
            <a:endParaRPr lang="en-US" altLang="ko-KR" b="1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관대함과 선택의 자유이다</a:t>
            </a:r>
            <a:r>
              <a:rPr lang="en-US" altLang="ko-KR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endParaRPr lang="en-US" altLang="ko-KR" b="1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한국이 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다른 나라에 비해</a:t>
            </a:r>
            <a:endParaRPr lang="en-US" altLang="ko-KR" b="1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관대함과 선택의 자유가 </a:t>
            </a:r>
            <a:r>
              <a:rPr lang="ko-KR" altLang="en-US" b="1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낮은것</a:t>
            </a:r>
            <a:r>
              <a:rPr lang="ko-KR" altLang="en-US" b="1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으로</a:t>
            </a:r>
            <a:r>
              <a:rPr lang="ko-KR" altLang="en-US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확인된다</a:t>
            </a:r>
            <a:r>
              <a:rPr lang="en-US" altLang="ko-KR" b="1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en-US" altLang="ko-KR" b="1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10047743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4400" kern="100" spc="-70" dirty="0" err="1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행복지수의</a:t>
            </a:r>
            <a:r>
              <a:rPr lang="ko-KR" altLang="en-US" sz="4400" kern="100" spc="-70" dirty="0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요인 분석</a:t>
            </a:r>
            <a:endParaRPr lang="ko-KR" altLang="en-US" sz="4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09" y="1063780"/>
            <a:ext cx="5259673" cy="28051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7" y="3868940"/>
            <a:ext cx="5259674" cy="280515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23876" y="1712032"/>
            <a:ext cx="2914650" cy="636703"/>
          </a:xfrm>
          <a:prstGeom prst="rect">
            <a:avLst/>
          </a:prstGeom>
          <a:noFill/>
          <a:ln w="57150"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700" kern="100" spc="-8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7200" y="4517192"/>
            <a:ext cx="2981325" cy="636703"/>
          </a:xfrm>
          <a:prstGeom prst="rect">
            <a:avLst/>
          </a:prstGeom>
          <a:noFill/>
          <a:ln w="57150"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700" kern="100" spc="-8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277100" y="5360419"/>
            <a:ext cx="4914900" cy="1497581"/>
            <a:chOff x="5527016" y="5281423"/>
            <a:chExt cx="6664984" cy="1662153"/>
          </a:xfrm>
        </p:grpSpPr>
        <p:sp>
          <p:nvSpPr>
            <p:cNvPr id="12" name="직사각형 11"/>
            <p:cNvSpPr/>
            <p:nvPr/>
          </p:nvSpPr>
          <p:spPr>
            <a:xfrm>
              <a:off x="5527016" y="5743247"/>
              <a:ext cx="666498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아시아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: 41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개국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237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개의 데이터</a:t>
              </a:r>
              <a:endParaRPr lang="en-US" altLang="ko-KR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대한민국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일본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중국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몽골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중국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대만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동아시아</a:t>
              </a:r>
              <a:b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카자흐스탄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키르기스스탄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타지키스탄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투르크메니스탄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우즈베키스탄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중앙아시아</a:t>
              </a:r>
              <a:b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캄보디아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인도네시아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말레이시아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미얀마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필리핀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싱가포르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태국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베트남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동남아시아</a:t>
              </a:r>
              <a:b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아프가니스탄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방글라데시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부탄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말디브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네팔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파키스탄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스리랑카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남아시아</a:t>
              </a:r>
              <a:b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아르메니아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아제르바이잔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바레인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키프로스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조지아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이란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이라크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이스라엘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요르단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쿠웨이트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서아시아</a:t>
              </a:r>
              <a:b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레바논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오만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카타르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사우디아라비아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팔레스타인 국가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시리아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튀르키예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아랍에미리트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예멘 </a:t>
              </a:r>
              <a:r>
                <a:rPr lang="en-US" altLang="ko-KR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 </a:t>
              </a:r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중동</a:t>
              </a:r>
            </a:p>
            <a:p>
              <a: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/>
              </a:r>
              <a:br>
                <a: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endPara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5527016" y="5503994"/>
              <a:ext cx="161294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[OECD] : 38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개국 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228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개의 데이터</a:t>
              </a:r>
              <a:endPara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527016" y="5281423"/>
              <a:ext cx="168828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전세계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: 157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개국 </a:t>
              </a:r>
              <a:r>
                <a:rPr lang="en-US" altLang="ko-KR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875</a:t>
              </a:r>
              <a:r>
                <a:rPr lang="ko-KR" altLang="en-US" sz="8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개의 데이터</a:t>
              </a:r>
              <a:endPara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10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8" y="367690"/>
            <a:ext cx="2818268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4400" kern="100" spc="-70" dirty="0" err="1" smtClean="0">
                <a:ln w="3175" cap="rnd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분석심화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3992464" y="1939117"/>
            <a:ext cx="4161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 내의 데이터와 </a:t>
            </a:r>
            <a:r>
              <a:rPr lang="ko-KR" altLang="en-US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행복요소</a:t>
            </a:r>
            <a:r>
              <a:rPr lang="ko-KR" altLang="en-US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의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상관분석</a:t>
            </a:r>
            <a:endParaRPr lang="ko-KR" altLang="en-US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386594"/>
              </p:ext>
            </p:extLst>
          </p:nvPr>
        </p:nvGraphicFramePr>
        <p:xfrm>
          <a:off x="562968" y="2400782"/>
          <a:ext cx="11020426" cy="4434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71358">
                  <a:extLst>
                    <a:ext uri="{9D8B030D-6E8A-4147-A177-3AD203B41FA5}">
                      <a16:colId xmlns:a16="http://schemas.microsoft.com/office/drawing/2014/main" val="2769895691"/>
                    </a:ext>
                  </a:extLst>
                </a:gridCol>
                <a:gridCol w="3671358">
                  <a:extLst>
                    <a:ext uri="{9D8B030D-6E8A-4147-A177-3AD203B41FA5}">
                      <a16:colId xmlns:a16="http://schemas.microsoft.com/office/drawing/2014/main" val="3201340264"/>
                    </a:ext>
                  </a:extLst>
                </a:gridCol>
                <a:gridCol w="3677710">
                  <a:extLst>
                    <a:ext uri="{9D8B030D-6E8A-4147-A177-3AD203B41FA5}">
                      <a16:colId xmlns:a16="http://schemas.microsoft.com/office/drawing/2014/main" val="273343536"/>
                    </a:ext>
                  </a:extLst>
                </a:gridCol>
              </a:tblGrid>
              <a:tr h="3464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행복요인</a:t>
                      </a:r>
                      <a:endParaRPr lang="ko-KR" altLang="en-US" sz="18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선택적 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자유</a:t>
                      </a:r>
                      <a:endParaRPr lang="ko-KR" altLang="en-US" sz="18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관대함</a:t>
                      </a:r>
                      <a:endParaRPr lang="ko-KR" altLang="en-US" sz="18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825934"/>
                  </a:ext>
                </a:extLst>
              </a:tr>
              <a:tr h="837984">
                <a:tc>
                  <a:txBody>
                    <a:bodyPr/>
                    <a:lstStyle/>
                    <a:p>
                      <a:endParaRPr lang="en-US" altLang="ko-KR" sz="14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여가 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: </a:t>
                      </a: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취미 만족도 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(19~24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년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)</a:t>
                      </a:r>
                      <a:endParaRPr lang="en-US" altLang="ko-KR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상관계수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(r)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0.88243538</a:t>
                      </a:r>
                      <a:endParaRPr lang="en-US" altLang="ko-KR" sz="1400" baseline="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p-value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0.01991971</a:t>
                      </a:r>
                      <a:endParaRPr lang="en-US" altLang="ko-KR" sz="14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세계기부지수 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(21</a:t>
                      </a: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년 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114</a:t>
                      </a: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개국 기준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)</a:t>
                      </a: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상관계수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(r)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0.7477632242121277</a:t>
                      </a:r>
                      <a:endParaRPr lang="en-US" altLang="ko-KR" sz="14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p-value :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1.7311894983256795e-19</a:t>
                      </a:r>
                      <a:endParaRPr lang="en-US" altLang="ko-KR" sz="14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00908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endParaRPr lang="en-US" altLang="ko-KR" sz="14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직업 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: </a:t>
                      </a: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일자리 만족도 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(19~24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년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)</a:t>
                      </a:r>
                      <a:endParaRPr lang="en-US" altLang="ko-KR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상관계수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0.94132618</a:t>
                      </a:r>
                      <a:endParaRPr lang="en-US" altLang="ko-KR" sz="1400" baseline="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p-value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0.00506293</a:t>
                      </a:r>
                      <a:endParaRPr lang="en-US" altLang="ko-KR" sz="14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세계기부지수 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(22</a:t>
                      </a: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년 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119</a:t>
                      </a:r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개국 기준</a:t>
                      </a:r>
                      <a:r>
                        <a:rPr lang="en-US" altLang="ko-KR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)</a:t>
                      </a:r>
                      <a:endParaRPr lang="en-US" altLang="ko-KR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상관계수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0.6951128586365728</a:t>
                      </a:r>
                      <a:endParaRPr lang="ko-KR" altLang="en-US" sz="1400" dirty="0" smtClean="0"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p-value : 9.868399835248921e-17</a:t>
                      </a:r>
                      <a:endParaRPr lang="en-US" altLang="ko-KR" sz="1400" dirty="0" smtClean="0">
                        <a:solidFill>
                          <a:srgbClr val="FF0000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6151"/>
                  </a:ext>
                </a:extLst>
              </a:tr>
              <a:tr h="1459104">
                <a:tc>
                  <a:txBody>
                    <a:bodyPr/>
                    <a:lstStyle/>
                    <a:p>
                      <a:endParaRPr lang="ko-KR" altLang="en-US" sz="1400" dirty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귀무가설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선택적 자유와 </a:t>
                      </a:r>
                      <a:r>
                        <a:rPr lang="ko-KR" altLang="en-US" sz="1400" dirty="0" err="1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취미만족도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일자리 만족도는 상관관계가 없다</a:t>
                      </a:r>
                      <a:endParaRPr lang="en-US" altLang="ko-KR" sz="14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err="1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대립가설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선택적 자유와 취미 만족도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,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일자리 만족도는 상관관계가</a:t>
                      </a:r>
                      <a:r>
                        <a:rPr lang="ko-KR" altLang="en-US" sz="1400" baseline="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있다</a:t>
                      </a:r>
                      <a:endParaRPr lang="en-US" altLang="ko-KR" sz="1400" baseline="0" dirty="0" smtClean="0">
                        <a:solidFill>
                          <a:srgbClr val="FF0000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endParaRPr lang="en-US" altLang="ko-KR" sz="1400" dirty="0" smtClean="0">
                        <a:solidFill>
                          <a:srgbClr val="FF0000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결론</a:t>
                      </a:r>
                      <a:endParaRPr lang="en-US" altLang="ko-KR" sz="1400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취미만족도와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일자리 만족도가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높은 상관관계가 </a:t>
                      </a:r>
                      <a:r>
                        <a:rPr lang="ko-KR" altLang="en-US" sz="1400" baseline="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있다</a:t>
                      </a:r>
                      <a:r>
                        <a:rPr lang="en-US" altLang="ko-KR" sz="1400" baseline="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.</a:t>
                      </a:r>
                      <a:endParaRPr lang="en-US" altLang="ko-KR" sz="14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한국은 </a:t>
                      </a:r>
                      <a:r>
                        <a:rPr lang="ko-KR" altLang="en-US" sz="1400" dirty="0" err="1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다른나라에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비해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선택적 자유가 높으므로</a:t>
                      </a:r>
                      <a:endParaRPr lang="en-US" altLang="ko-KR" sz="14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여가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/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직업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선택에 있어 자유도가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낮을 가능성이 있다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.</a:t>
                      </a:r>
                      <a:endParaRPr lang="ko-KR" altLang="en-US" sz="1400" dirty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귀무가설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세계기부지수는 관대함과 상관관계가 없다</a:t>
                      </a:r>
                      <a:endParaRPr lang="en-US" altLang="ko-KR" sz="14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err="1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대립가설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: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세계기부지수는 관대함과 상관관계가</a:t>
                      </a:r>
                      <a:r>
                        <a:rPr lang="ko-KR" altLang="en-US" sz="1400" baseline="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있다</a:t>
                      </a:r>
                      <a:endParaRPr lang="en-US" altLang="ko-KR" sz="1400" dirty="0" smtClean="0">
                        <a:solidFill>
                          <a:srgbClr val="FF0000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endParaRPr lang="en-US" altLang="ko-KR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결론</a:t>
                      </a:r>
                      <a:endParaRPr lang="en-US" altLang="ko-KR" sz="1400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세계기부지수와 </a:t>
                      </a:r>
                      <a:r>
                        <a:rPr lang="ko-KR" altLang="en-US" sz="1400" dirty="0" err="1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관대함간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상관관계가 있으므로 </a:t>
                      </a:r>
                      <a:endParaRPr lang="en-US" altLang="ko-KR" sz="1400" dirty="0" smtClean="0">
                        <a:solidFill>
                          <a:schemeClr val="tx1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관대함이 낮은 우리나라는 </a:t>
                      </a:r>
                      <a:endParaRPr lang="en-US" altLang="ko-KR" sz="14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다른 </a:t>
                      </a:r>
                      <a:r>
                        <a:rPr lang="ko-KR" altLang="en-US" sz="14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나라에 비해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기부를 잘 </a:t>
                      </a: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하지 않는 편 </a:t>
                      </a:r>
                      <a:r>
                        <a:rPr lang="ko-KR" altLang="en-US" sz="1400" baseline="0" dirty="0" smtClean="0">
                          <a:solidFill>
                            <a:srgbClr val="FF0000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이라고 추정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할 수 있다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.</a:t>
                      </a:r>
                      <a:endParaRPr lang="en-US" altLang="ko-KR" sz="1400" dirty="0" smtClean="0">
                        <a:solidFill>
                          <a:schemeClr val="tx1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594040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9650846" y="1939117"/>
            <a:ext cx="1932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피어슨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상관분석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44008" y="6396335"/>
            <a:ext cx="2619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세계기부지수는 </a:t>
            </a:r>
            <a:r>
              <a:rPr lang="en-US" altLang="ko-KR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2021</a:t>
            </a:r>
            <a:r>
              <a:rPr lang="ko-KR" altLang="en-US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2022</a:t>
            </a:r>
            <a:r>
              <a:rPr lang="ko-KR" altLang="en-US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 데이터만 존재함</a:t>
            </a:r>
            <a:endParaRPr lang="en-US" altLang="ko-KR" sz="8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결론은 분석가의 주관적인 견해가 들어가 있음</a:t>
            </a:r>
            <a:endParaRPr lang="en-US" altLang="ko-KR" sz="8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34508" y="1047857"/>
            <a:ext cx="4857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실제로 우리나라는 </a:t>
            </a:r>
            <a:r>
              <a:rPr lang="ko-KR" altLang="en-US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선택자유와</a:t>
            </a: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관대함이 낮은가</a:t>
            </a:r>
            <a:r>
              <a:rPr lang="en-US" altLang="ko-KR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469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539457" y="3274729"/>
            <a:ext cx="3263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한국의 삶의 만족도 분석</a:t>
            </a:r>
            <a:endParaRPr lang="en-US" altLang="ko-KR" sz="2000" b="1" dirty="0" smtClean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3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6009143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개인 행복 측정 기준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586829" y="2663710"/>
            <a:ext cx="55279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다른나라와</a:t>
            </a:r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한국의 </a:t>
            </a:r>
            <a:r>
              <a:rPr lang="ko-KR" altLang="en-US" sz="2000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문화차이에</a:t>
            </a:r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의해</a:t>
            </a:r>
            <a:endParaRPr lang="en-US" altLang="ko-KR" sz="2000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행복지수를 측정</a:t>
            </a:r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하기 어려움 </a:t>
            </a:r>
            <a:endParaRPr lang="en-US" altLang="ko-KR" sz="2000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sz="2000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그러므로 현재 프로젝트에서는</a:t>
            </a:r>
            <a:endParaRPr lang="en-US" altLang="ko-KR" sz="2000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endParaRPr lang="en-US" altLang="ko-KR" sz="2000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&lt;</a:t>
            </a:r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한국인의 행복지수 공식 개발</a:t>
            </a:r>
            <a:r>
              <a:rPr lang="en-US" altLang="ko-KR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&gt;</a:t>
            </a:r>
            <a:r>
              <a:rPr lang="ko-KR" altLang="en-US" sz="2000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에서 발표한</a:t>
            </a:r>
            <a:endParaRPr lang="en-US" altLang="ko-KR" sz="2000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ERG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이론 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대 욕구의 대한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16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 지표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를 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기준으로 분석하고자 함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096000" y="71098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 smtClean="0"/>
              <a:t>한국의 행복지수 개발https</a:t>
            </a:r>
            <a:r>
              <a:rPr lang="ko-KR" altLang="en-US" sz="1200" dirty="0"/>
              <a:t>://scienceon.kisti.re.kr/commons/util/originalView.do?cn=JAKO200803657007995&amp;oCn=JAKO200803657007995&amp;dbt=JAKO&amp;journal=NJOU00294571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6627586" y="1315120"/>
            <a:ext cx="5032827" cy="5324535"/>
            <a:chOff x="7159173" y="606086"/>
            <a:chExt cx="5032827" cy="5324535"/>
          </a:xfrm>
        </p:grpSpPr>
        <p:sp>
          <p:nvSpPr>
            <p:cNvPr id="7" name="직사각형 6"/>
            <p:cNvSpPr/>
            <p:nvPr/>
          </p:nvSpPr>
          <p:spPr>
            <a:xfrm>
              <a:off x="8249978" y="606086"/>
              <a:ext cx="3942022" cy="53245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경제력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사회</a:t>
              </a:r>
              <a:r>
                <a:rPr lang="en-US" altLang="ko-KR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, 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정치</a:t>
              </a:r>
              <a:r>
                <a:rPr lang="en-US" altLang="ko-KR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, 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문화</a:t>
              </a:r>
              <a:r>
                <a:rPr lang="en-US" altLang="ko-KR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, 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환경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외모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건강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자녀의 바른 성장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부모 및 </a:t>
              </a:r>
              <a:r>
                <a:rPr lang="ko-KR" altLang="en-US" sz="2000" kern="100" spc="-70" dirty="0" err="1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친지간의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원만한 관계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배우자</a:t>
              </a:r>
              <a:r>
                <a:rPr lang="en-US" altLang="ko-KR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이성</a:t>
              </a:r>
              <a:r>
                <a:rPr lang="en-US" altLang="ko-KR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과의 사랑 및 신뢰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타인과의 원만한 관계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사회적 지위 및 인정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err="1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자기수용감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자기계발 및 </a:t>
              </a:r>
              <a:r>
                <a:rPr lang="ko-KR" altLang="en-US" sz="2000" kern="100" spc="-70" dirty="0" err="1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목표추구</a:t>
              </a: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자립성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여가 </a:t>
              </a:r>
              <a:endParaRPr lang="en-US" altLang="ko-KR" sz="20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긍정적 인생관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사회봉사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r>
                <a:rPr lang="ko-KR" altLang="en-US" sz="20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종교</a:t>
              </a: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>
                <a:buAutoNum type="arabicPeriod"/>
              </a:pPr>
              <a:endPara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endParaRPr>
            </a:p>
          </p:txBody>
        </p:sp>
        <p:sp>
          <p:nvSpPr>
            <p:cNvPr id="9" name="왼쪽 중괄호 8"/>
            <p:cNvSpPr/>
            <p:nvPr/>
          </p:nvSpPr>
          <p:spPr>
            <a:xfrm>
              <a:off x="7965143" y="703053"/>
              <a:ext cx="191192" cy="116355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왼쪽 중괄호 9"/>
            <p:cNvSpPr/>
            <p:nvPr/>
          </p:nvSpPr>
          <p:spPr>
            <a:xfrm>
              <a:off x="7965143" y="1866613"/>
              <a:ext cx="191192" cy="153209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왼쪽 중괄호 10"/>
            <p:cNvSpPr/>
            <p:nvPr/>
          </p:nvSpPr>
          <p:spPr>
            <a:xfrm>
              <a:off x="7965143" y="3398703"/>
              <a:ext cx="191192" cy="203384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>
              <a:off x="8156335" y="1866613"/>
              <a:ext cx="304245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8156335" y="3398703"/>
              <a:ext cx="304245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/>
            <p:cNvSpPr/>
            <p:nvPr/>
          </p:nvSpPr>
          <p:spPr>
            <a:xfrm>
              <a:off x="7159174" y="1100166"/>
              <a:ext cx="5866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7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생존</a:t>
              </a:r>
              <a:endParaRPr lang="ko-KR" altLang="en-US" dirty="0">
                <a:solidFill>
                  <a:schemeClr val="bg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159173" y="2431255"/>
              <a:ext cx="5866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7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관계</a:t>
              </a:r>
              <a:endParaRPr lang="ko-KR" altLang="en-US" dirty="0">
                <a:solidFill>
                  <a:schemeClr val="bg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159173" y="4133550"/>
              <a:ext cx="6046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 smtClean="0">
                  <a:solidFill>
                    <a:schemeClr val="bg2">
                      <a:lumMod val="7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성장</a:t>
              </a:r>
              <a:endParaRPr lang="ko-KR" altLang="en-US" dirty="0">
                <a:solidFill>
                  <a:schemeClr val="bg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3079725" y="2151623"/>
            <a:ext cx="3016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/>
              <a:t>출처 </a:t>
            </a:r>
            <a:r>
              <a:rPr lang="en-US" altLang="ko-KR" sz="1200" dirty="0" smtClean="0"/>
              <a:t>: KCI [</a:t>
            </a:r>
            <a:r>
              <a:rPr lang="ko-KR" altLang="en-US" sz="1200" dirty="0" smtClean="0"/>
              <a:t>한국인의 행복지수 공식 개발</a:t>
            </a:r>
            <a:r>
              <a:rPr lang="en-US" altLang="ko-KR" sz="1200" dirty="0" smtClean="0"/>
              <a:t>]</a:t>
            </a:r>
            <a:endParaRPr lang="ko-KR" altLang="en-US" sz="12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0" y="1619325"/>
            <a:ext cx="2299607" cy="7248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5422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7619321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ERG </a:t>
            </a:r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욕구 이론</a:t>
            </a:r>
            <a:endParaRPr lang="ko-KR" altLang="en-US" sz="4400" dirty="0"/>
          </a:p>
        </p:txBody>
      </p:sp>
      <p:pic>
        <p:nvPicPr>
          <p:cNvPr id="2050" name="Picture 2" descr="엘더퍼의 ERG 이론 — 내일과 사랑이 있는 삶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3" r="23878"/>
          <a:stretch/>
        </p:blipFill>
        <p:spPr bwMode="auto">
          <a:xfrm>
            <a:off x="5600700" y="1431662"/>
            <a:ext cx="5248276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8801100" y="1431662"/>
            <a:ext cx="2047875" cy="2362200"/>
          </a:xfrm>
          <a:prstGeom prst="rect">
            <a:avLst/>
          </a:prstGeom>
          <a:noFill/>
          <a:ln w="57150"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700" kern="100" spc="-8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57225" y="4092072"/>
            <a:ext cx="917771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매슬로의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욕구단계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이론을 발전 시켜 주장한 이론</a:t>
            </a:r>
            <a:endParaRPr lang="en-US" altLang="ko-KR" dirty="0" smtClean="0">
              <a:solidFill>
                <a:schemeClr val="tx1">
                  <a:lumMod val="50000"/>
                  <a:lumOff val="50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존재 욕구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인간의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기본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욕구 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음식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공기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물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임금 등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관계 욕구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  <a:r>
              <a:rPr lang="ko-KR" altLang="en-US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의미있는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사회적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개인적 인간관계 형성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에서 충족될 수 있는 욕구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성장 욕구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개인의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생산적이고 창의적인 공헌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 의해서 충족될 수 있는 욕구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468978" y="961882"/>
            <a:ext cx="6649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기준</a:t>
            </a:r>
            <a:endParaRPr lang="en-US" altLang="ko-KR" sz="2000" b="1" dirty="0" smtClean="0">
              <a:solidFill>
                <a:srgbClr val="FF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1" y="1361990"/>
            <a:ext cx="3720114" cy="258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8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34507" y="1271670"/>
            <a:ext cx="68028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한국행정연구원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「</a:t>
            </a:r>
            <a:r>
              <a:rPr lang="ko-KR" altLang="en-US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사회통합실태조사</a:t>
            </a:r>
            <a:r>
              <a:rPr lang="ko-KR" altLang="en-US" dirty="0" err="1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」의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데이터분석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현재의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삶에 만족하는 정도를 보여주는 지표로 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개인의 </a:t>
            </a:r>
            <a:r>
              <a:rPr lang="ko-KR" altLang="en-US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전반적인 삶에 대해 주관적인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만족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정도 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측정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247107" y="2694180"/>
            <a:ext cx="8521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2015~ 2024</a:t>
            </a:r>
            <a:r>
              <a:rPr lang="ko-KR" altLang="en-US" b="1" dirty="0" smtClean="0"/>
              <a:t>년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기준 삶에 대한 만족도는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2023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점과 동일하고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2013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5.7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점에서 증가 추세를 보이고 있다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남자와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여자 모두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성별 간 차이는 없으며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연령대별로는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60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세 이상에서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6.3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가장 낮다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dirty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국제비교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결과를 보면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2022~2024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년 한국은 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6.04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점으로 </a:t>
            </a:r>
            <a:endParaRPr lang="en-US" altLang="ko-KR" dirty="0" smtClean="0">
              <a:solidFill>
                <a:srgbClr val="333333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핀란드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(7.74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),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덴마크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(7.52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),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아이슬란드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(7.52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점</a:t>
            </a:r>
            <a:r>
              <a:rPr lang="en-US" altLang="ko-KR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 </a:t>
            </a:r>
            <a:r>
              <a:rPr lang="ko-KR" altLang="en-US" dirty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등에 비해 낮은 수준이다</a:t>
            </a:r>
            <a:r>
              <a:rPr lang="en-US" altLang="ko-KR" dirty="0" smtClean="0">
                <a:solidFill>
                  <a:srgbClr val="333333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 </a:t>
            </a:r>
            <a:endParaRPr lang="ko-KR" altLang="en-US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987" y="2402890"/>
            <a:ext cx="7897303" cy="4169933"/>
          </a:xfrm>
          <a:prstGeom prst="rect">
            <a:avLst/>
          </a:prstGeom>
        </p:spPr>
      </p:pic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6856707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삶의 만족도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23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514850" y="3255679"/>
            <a:ext cx="3555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어떤 요인이 삶의 만족을 주는가</a:t>
            </a:r>
            <a:r>
              <a:rPr lang="en-US" altLang="ko-KR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9325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2323656" y="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system-ui"/>
              </a:rPr>
              <a:t>생존</a:t>
            </a:r>
            <a:r>
              <a:rPr lang="en-US" altLang="ko-KR" dirty="0">
                <a:solidFill>
                  <a:srgbClr val="FF0000"/>
                </a:solidFill>
                <a:latin typeface="system-ui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system-ui"/>
              </a:rPr>
              <a:t>관계</a:t>
            </a:r>
            <a:r>
              <a:rPr lang="en-US" altLang="ko-KR" dirty="0">
                <a:solidFill>
                  <a:srgbClr val="FF0000"/>
                </a:solidFill>
                <a:latin typeface="system-ui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system-ui"/>
              </a:rPr>
              <a:t>성장 이라는 </a:t>
            </a:r>
            <a:r>
              <a:rPr lang="en-US" altLang="ko-KR" dirty="0">
                <a:solidFill>
                  <a:srgbClr val="FF0000"/>
                </a:solidFill>
                <a:latin typeface="system-ui"/>
              </a:rPr>
              <a:t>ERG</a:t>
            </a:r>
            <a:r>
              <a:rPr lang="ko-KR" altLang="en-US" dirty="0">
                <a:solidFill>
                  <a:srgbClr val="FF0000"/>
                </a:solidFill>
                <a:latin typeface="system-ui"/>
              </a:rPr>
              <a:t>이론에 따라 생존과 관련된 임금의 격차를 나타내는 임금</a:t>
            </a:r>
            <a:r>
              <a:rPr lang="en-US" altLang="ko-KR" dirty="0">
                <a:solidFill>
                  <a:srgbClr val="FF0000"/>
                </a:solidFill>
                <a:latin typeface="system-ui"/>
              </a:rPr>
              <a:t>5</a:t>
            </a:r>
            <a:r>
              <a:rPr lang="ko-KR" altLang="en-US" dirty="0" err="1">
                <a:solidFill>
                  <a:srgbClr val="FF0000"/>
                </a:solidFill>
                <a:latin typeface="system-ui"/>
              </a:rPr>
              <a:t>분위배율</a:t>
            </a:r>
            <a:r>
              <a:rPr lang="en-US" altLang="ko-KR" dirty="0">
                <a:solidFill>
                  <a:srgbClr val="FF0000"/>
                </a:solidFill>
                <a:latin typeface="system-ui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system-ui"/>
              </a:rPr>
              <a:t>그리고 건강에 </a:t>
            </a:r>
            <a:r>
              <a:rPr lang="ko-KR" altLang="en-US" dirty="0" err="1">
                <a:solidFill>
                  <a:srgbClr val="FF0000"/>
                </a:solidFill>
                <a:latin typeface="system-ui"/>
              </a:rPr>
              <a:t>자신있어</a:t>
            </a:r>
            <a:r>
              <a:rPr lang="ko-KR" altLang="en-US" dirty="0">
                <a:solidFill>
                  <a:srgbClr val="FF0000"/>
                </a:solidFill>
                <a:latin typeface="system-ui"/>
              </a:rPr>
              <a:t> 하는 정도를 나타내는 주관적건강상태를 생존과 관련되 지표로 선택함 관계와 관련된 대인신뢰도를 통해 사회적으로 얼마나 믿을 수 있는지 그리고 관계유지를 위해 사회단체에 참여하고 있는 사회단체참여율을 지표로 선택함 성장과 관련된 생활체육참여율을 통해 자기계발을 위해 적극적으로 참여하는지</a:t>
            </a:r>
            <a:r>
              <a:rPr lang="en-US" altLang="ko-KR" dirty="0">
                <a:solidFill>
                  <a:srgbClr val="FF0000"/>
                </a:solidFill>
                <a:latin typeface="system-ui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system-ui"/>
              </a:rPr>
              <a:t>여가생활만족도를 통해 일상을 벗어나 문화생활 및 레저생활 만족도를 통해 얼마나 적극적으로 성장에 노력하는지를 나타내고 싶었음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2652"/>
              </p:ext>
            </p:extLst>
          </p:nvPr>
        </p:nvGraphicFramePr>
        <p:xfrm>
          <a:off x="438150" y="1409700"/>
          <a:ext cx="10982325" cy="47575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74844">
                  <a:extLst>
                    <a:ext uri="{9D8B030D-6E8A-4147-A177-3AD203B41FA5}">
                      <a16:colId xmlns:a16="http://schemas.microsoft.com/office/drawing/2014/main" val="1353446205"/>
                    </a:ext>
                  </a:extLst>
                </a:gridCol>
                <a:gridCol w="2911593">
                  <a:extLst>
                    <a:ext uri="{9D8B030D-6E8A-4147-A177-3AD203B41FA5}">
                      <a16:colId xmlns:a16="http://schemas.microsoft.com/office/drawing/2014/main" val="3201340264"/>
                    </a:ext>
                  </a:extLst>
                </a:gridCol>
                <a:gridCol w="2842401">
                  <a:extLst>
                    <a:ext uri="{9D8B030D-6E8A-4147-A177-3AD203B41FA5}">
                      <a16:colId xmlns:a16="http://schemas.microsoft.com/office/drawing/2014/main" val="378024232"/>
                    </a:ext>
                  </a:extLst>
                </a:gridCol>
                <a:gridCol w="3153487">
                  <a:extLst>
                    <a:ext uri="{9D8B030D-6E8A-4147-A177-3AD203B41FA5}">
                      <a16:colId xmlns:a16="http://schemas.microsoft.com/office/drawing/2014/main" val="2613541455"/>
                    </a:ext>
                  </a:extLst>
                </a:gridCol>
              </a:tblGrid>
              <a:tr h="4277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삶의 만족도 </a:t>
                      </a:r>
                      <a:endParaRPr lang="ko-KR" altLang="en-US" sz="1400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8139"/>
                  </a:ext>
                </a:extLst>
              </a:tr>
              <a:tr h="49613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ERG</a:t>
                      </a:r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이론 </a:t>
                      </a:r>
                      <a:r>
                        <a:rPr lang="en-US" altLang="ko-KR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3</a:t>
                      </a:r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 욕구</a:t>
                      </a:r>
                      <a:endParaRPr lang="ko-KR" altLang="en-US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생존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관계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성장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825934"/>
                  </a:ext>
                </a:extLst>
              </a:tr>
              <a:tr h="1055295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400" baseline="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</a:t>
                      </a:r>
                    </a:p>
                    <a:p>
                      <a:pPr algn="ctr"/>
                      <a:r>
                        <a:rPr lang="ko-KR" altLang="en-US" sz="1400" baseline="0" dirty="0" err="1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사용데이터</a:t>
                      </a:r>
                      <a:endParaRPr lang="en-US" altLang="ko-KR" sz="1400" baseline="0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ctr"/>
                      <a:r>
                        <a:rPr lang="en-US" altLang="ko-KR" sz="1400" baseline="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400" baseline="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분석결과</a:t>
                      </a:r>
                      <a:endParaRPr lang="ko-KR" altLang="en-US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임금격차</a:t>
                      </a:r>
                      <a:endParaRPr lang="en-US" altLang="ko-KR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상관계수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(r) : 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0.7189629501757258</a:t>
                      </a:r>
                    </a:p>
                    <a:p>
                      <a:r>
                        <a:rPr lang="en-US" altLang="ko-KR" sz="1200" b="0" i="0" kern="1200" dirty="0" err="1" smtClean="0">
                          <a:solidFill>
                            <a:srgbClr val="FF0000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p_value</a:t>
                      </a:r>
                      <a:r>
                        <a:rPr lang="en-US" altLang="ko-KR" sz="1200" b="0" i="0" kern="1200" dirty="0" smtClean="0">
                          <a:solidFill>
                            <a:srgbClr val="FF0000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 : 0.01912230722528311</a:t>
                      </a:r>
                      <a:endParaRPr lang="en-US" altLang="ko-KR" sz="12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사회적고립도</a:t>
                      </a:r>
                    </a:p>
                    <a:p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상관계수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(r) : 0.6316963090764419</a:t>
                      </a:r>
                    </a:p>
                    <a:p>
                      <a:r>
                        <a:rPr lang="en-US" altLang="ko-K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p_value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0.050095157812918664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여가생활만족도</a:t>
                      </a:r>
                    </a:p>
                    <a:p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상관계수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(r)</a:t>
                      </a:r>
                      <a:r>
                        <a:rPr lang="en-US" altLang="ko-KR" sz="12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 : 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0.7404769991518003</a:t>
                      </a:r>
                    </a:p>
                    <a:p>
                      <a:r>
                        <a:rPr lang="en-US" altLang="ko-KR" sz="1200" b="0" i="0" kern="1200" dirty="0" err="1" smtClean="0">
                          <a:solidFill>
                            <a:srgbClr val="FF0000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p_value</a:t>
                      </a:r>
                      <a:r>
                        <a:rPr lang="en-US" altLang="ko-KR" sz="1200" b="0" i="0" kern="1200" dirty="0" smtClean="0">
                          <a:solidFill>
                            <a:srgbClr val="FF0000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 : 0.014309244878159176</a:t>
                      </a:r>
                      <a:endParaRPr lang="en-US" altLang="ko-KR" sz="12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00908"/>
                  </a:ext>
                </a:extLst>
              </a:tr>
              <a:tr h="847773">
                <a:tc vMerge="1">
                  <a:txBody>
                    <a:bodyPr/>
                    <a:lstStyle/>
                    <a:p>
                      <a:endParaRPr lang="en-US" altLang="ko-KR" sz="14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주관적건강상태</a:t>
                      </a:r>
                      <a:endParaRPr lang="en-US" altLang="ko-KR" dirty="0" smtClean="0"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상관계수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(r)  : 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0.9252174870694099</a:t>
                      </a:r>
                    </a:p>
                    <a:p>
                      <a:r>
                        <a:rPr lang="en-US" altLang="ko-KR" sz="1200" b="0" i="0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p_value</a:t>
                      </a:r>
                      <a:r>
                        <a:rPr lang="en-US" altLang="ko-KR" sz="12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0.00012492865120570997</a:t>
                      </a:r>
                      <a:endParaRPr lang="en-US" altLang="ko-KR" sz="1200" dirty="0" smtClean="0">
                        <a:solidFill>
                          <a:srgbClr val="FF0000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가족관계만족도</a:t>
                      </a:r>
                      <a:endParaRPr lang="en-US" altLang="ko-KR" sz="1800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상관계수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(r)  </a:t>
                      </a:r>
                      <a:r>
                        <a:rPr lang="en-US" altLang="ko-KR" sz="12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0.9519212111193022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p_value</a:t>
                      </a:r>
                      <a:r>
                        <a:rPr lang="en-US" altLang="ko-KR" sz="1200" dirty="0" smtClean="0"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: 2.2055278274383755e-05</a:t>
                      </a:r>
                      <a:endParaRPr lang="ko-KR" altLang="en-US" sz="12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일자리만족도</a:t>
                      </a:r>
                      <a:endParaRPr lang="en-US" altLang="ko-KR" sz="1800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상관계수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(r)  : 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0.8234488306100337</a:t>
                      </a:r>
                      <a:endParaRPr lang="ko-KR" altLang="en-US" sz="1200" dirty="0" smtClean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r>
                        <a:rPr lang="en-US" altLang="ko-KR" sz="1200" b="0" i="0" kern="1200" dirty="0" err="1" smtClean="0">
                          <a:solidFill>
                            <a:srgbClr val="FF0000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p_value</a:t>
                      </a:r>
                      <a:r>
                        <a:rPr lang="en-US" altLang="ko-KR" sz="1200" b="0" i="0" kern="1200" dirty="0" smtClean="0">
                          <a:solidFill>
                            <a:srgbClr val="FF0000"/>
                          </a:solidFill>
                          <a:effectLst/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  <a:cs typeface="+mn-cs"/>
                        </a:rPr>
                        <a:t> : 0.04400389530124042</a:t>
                      </a:r>
                      <a:endParaRPr lang="en-US" altLang="ko-KR" sz="12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6151"/>
                  </a:ext>
                </a:extLst>
              </a:tr>
              <a:tr h="7418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분석결과</a:t>
                      </a:r>
                      <a:endParaRPr lang="ko-KR" altLang="en-US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삶의 만족도는 임금격차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,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주관적건강상태와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</a:t>
                      </a:r>
                      <a:endParaRPr lang="en-US" altLang="ko-KR" sz="1200" baseline="0" dirty="0" smtClean="0">
                        <a:solidFill>
                          <a:schemeClr val="tx1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0.7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이상의 높은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양의 상관관계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를 가진다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삶의 만족도는 가족관계와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이상의 높은 양의 상관관계를 가진다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삶의 만족도는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 여가생활만족도와 일자리만족도와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0.7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이상의 높은 상관관계를 가지고 있다</a:t>
                      </a:r>
                      <a:endParaRPr lang="en-US" altLang="ko-KR" sz="12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820835"/>
                  </a:ext>
                </a:extLst>
              </a:tr>
              <a:tr h="56881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smtClean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결론</a:t>
                      </a:r>
                      <a:endParaRPr lang="ko-KR" altLang="en-US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삶의 만족도와 상관관계가 있는 욕구의 순서는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생존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=&gt;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성장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=&gt;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관계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순이다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.</a:t>
                      </a:r>
                    </a:p>
                    <a:p>
                      <a:pPr algn="ctr"/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나눔스퀘어OTF Light" panose="020B0600000101010101" pitchFamily="34" charset="-127"/>
                          <a:ea typeface="나눔스퀘어OTF Light" panose="020B0600000101010101" pitchFamily="34" charset="-127"/>
                        </a:rPr>
                        <a:t>삶의 만족도는 생존 욕구와 강한 상관 관계가 있으므로</a:t>
                      </a:r>
                      <a:endParaRPr lang="en-US" altLang="ko-KR" sz="1200" baseline="0" dirty="0" smtClean="0">
                        <a:solidFill>
                          <a:schemeClr val="tx1"/>
                        </a:solidFill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  <a:p>
                      <a:pPr algn="ctr"/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임금과 건강에 해당하는 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“</a:t>
                      </a:r>
                      <a:r>
                        <a:rPr lang="ko-KR" altLang="en-US" sz="1600" baseline="0" dirty="0" err="1" smtClean="0">
                          <a:solidFill>
                            <a:srgbClr val="FF0000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생존욕구</a:t>
                      </a:r>
                      <a:r>
                        <a:rPr lang="en-US" altLang="ko-KR" sz="1600" baseline="0" dirty="0" smtClean="0">
                          <a:solidFill>
                            <a:srgbClr val="FF0000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”</a:t>
                      </a:r>
                      <a:r>
                        <a:rPr lang="ko-KR" altLang="en-US" sz="1600" baseline="0" dirty="0" smtClean="0">
                          <a:solidFill>
                            <a:srgbClr val="FF0000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가 삶의 만족도에 크게 </a:t>
                      </a:r>
                      <a:r>
                        <a:rPr lang="ko-KR" altLang="en-US" sz="1600" baseline="0" dirty="0" err="1" smtClean="0">
                          <a:solidFill>
                            <a:srgbClr val="FF0000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작용</a:t>
                      </a:r>
                      <a:r>
                        <a:rPr lang="ko-KR" altLang="en-US" sz="1600" baseline="0" dirty="0" err="1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하는것을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나타나고</a:t>
                      </a:r>
                      <a:endParaRPr lang="en-US" altLang="ko-KR" sz="1600" baseline="0" dirty="0" smtClean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이는 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3</a:t>
                      </a:r>
                      <a:r>
                        <a:rPr lang="ko-KR" altLang="en-US" sz="1600" baseline="0" dirty="0" err="1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대욕구중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가장 </a:t>
                      </a:r>
                      <a:r>
                        <a:rPr lang="ko-KR" altLang="en-US" sz="1600" baseline="0" dirty="0" err="1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저차원적인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욕구인 생존이 </a:t>
                      </a:r>
                      <a:endParaRPr lang="en-US" altLang="ko-KR" sz="1600" baseline="0" dirty="0" smtClean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삶의 만족도에 연관성이 크다는 것으로 해석된다</a:t>
                      </a:r>
                      <a:endParaRPr lang="en-US" altLang="ko-KR" sz="1600" baseline="0" dirty="0" smtClean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 smtClean="0"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 smtClean="0">
                        <a:solidFill>
                          <a:srgbClr val="FF0000"/>
                        </a:solidFill>
                        <a:effectLst/>
                        <a:latin typeface="나눔스퀘어OTF Light" panose="020B0600000101010101" pitchFamily="34" charset="-127"/>
                        <a:ea typeface="나눔스퀘어OTF Light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32230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07292" y="330869"/>
            <a:ext cx="2960237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상관분석</a:t>
            </a:r>
            <a:endParaRPr lang="ko-KR" altLang="en-US" sz="4400" dirty="0"/>
          </a:p>
        </p:txBody>
      </p:sp>
      <p:sp>
        <p:nvSpPr>
          <p:cNvPr id="9" name="직사각형 8"/>
          <p:cNvSpPr/>
          <p:nvPr/>
        </p:nvSpPr>
        <p:spPr>
          <a:xfrm>
            <a:off x="9235621" y="-2012713"/>
            <a:ext cx="1019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독립변수 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</a:p>
          <a:p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임금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dirty="0" err="1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분위배율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주관적건강상태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err="1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대인신뢰도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사회단체참여율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생활체육참여율</a:t>
            </a:r>
            <a:r>
              <a:rPr lang="en-US" altLang="ko-KR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여가생활만족도</a:t>
            </a:r>
            <a:endParaRPr lang="ko-KR" altLang="en-US" b="0" i="0" dirty="0">
              <a:solidFill>
                <a:srgbClr val="FF0000"/>
              </a:solidFill>
              <a:effectLst/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235621" y="-2544600"/>
            <a:ext cx="6176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종속변수 </a:t>
            </a:r>
            <a:r>
              <a:rPr lang="en-US" altLang="ko-KR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  <a:r>
              <a:rPr lang="ko-KR" altLang="en-US" dirty="0" err="1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삶의만족도</a:t>
            </a:r>
            <a:endParaRPr lang="ko-KR" altLang="en-US" b="0" i="0" dirty="0">
              <a:solidFill>
                <a:srgbClr val="FF0000"/>
              </a:solidFill>
              <a:effectLst/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575467" y="1026959"/>
            <a:ext cx="1932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피어슨상관분석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2363691" y="302449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/>
              <a:t>피어슨</a:t>
            </a:r>
            <a:r>
              <a:rPr lang="ko-KR" altLang="en-US" dirty="0"/>
              <a:t> 상관관계를 쓰는 이유 : 두 </a:t>
            </a:r>
            <a:r>
              <a:rPr lang="ko-KR" altLang="en-US" dirty="0" err="1"/>
              <a:t>연속형</a:t>
            </a:r>
            <a:r>
              <a:rPr lang="ko-KR" altLang="en-US" dirty="0"/>
              <a:t> 변수 간의 선형 관계의 강도와 방향을 측정하기 위해서입니다. 이 관계를 통해 변수들이 서로 어떻게 변화하는지 파악하고자 합니다.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600825" y="6226314"/>
            <a:ext cx="5591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2">
                    <a:lumMod val="90000"/>
                  </a:schemeClr>
                </a:solidFill>
              </a:rPr>
              <a:t>임금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5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분위배율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: 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출처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- 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고용형태별근로실태조사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[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상위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20%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글로자평균임금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/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하위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20%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근로자평균임금</a:t>
            </a:r>
            <a:r>
              <a:rPr lang="en-US" altLang="ko-KR" sz="800" dirty="0" smtClean="0">
                <a:solidFill>
                  <a:schemeClr val="bg2">
                    <a:lumMod val="90000"/>
                  </a:schemeClr>
                </a:solidFill>
              </a:rPr>
              <a:t>]</a:t>
            </a:r>
            <a:endParaRPr lang="en-US" altLang="ko-KR" sz="800" dirty="0">
              <a:solidFill>
                <a:schemeClr val="bg2">
                  <a:lumMod val="90000"/>
                </a:schemeClr>
              </a:solidFill>
            </a:endParaRPr>
          </a:p>
          <a:p>
            <a:pPr algn="r"/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주관적건강상태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: 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출처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-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국가데이터처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사회조사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[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자신의 건강상태에 대해 매우 좋다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또는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좋은편이다고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응답한 비율</a:t>
            </a:r>
            <a:r>
              <a:rPr lang="en-US" altLang="ko-KR" sz="800" dirty="0" smtClean="0">
                <a:solidFill>
                  <a:schemeClr val="bg2">
                    <a:lumMod val="90000"/>
                  </a:schemeClr>
                </a:solidFill>
              </a:rPr>
              <a:t>]</a:t>
            </a:r>
            <a:endParaRPr lang="en-US" altLang="ko-KR" sz="800" dirty="0">
              <a:solidFill>
                <a:schemeClr val="bg2">
                  <a:lumMod val="90000"/>
                </a:schemeClr>
              </a:solidFill>
            </a:endParaRPr>
          </a:p>
          <a:p>
            <a:pPr algn="r"/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여가생활만족도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: 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출처 국가데이터처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사회조사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[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현재 여가활용에 대해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매우만족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또는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약간만족이라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응답한 비율</a:t>
            </a:r>
            <a:r>
              <a:rPr lang="en-US" altLang="ko-KR" sz="800" dirty="0" smtClean="0">
                <a:solidFill>
                  <a:schemeClr val="bg2">
                    <a:lumMod val="90000"/>
                  </a:schemeClr>
                </a:solidFill>
              </a:rPr>
              <a:t>]</a:t>
            </a:r>
          </a:p>
          <a:p>
            <a:pPr algn="r"/>
            <a:r>
              <a:rPr lang="ko-KR" altLang="en-US" sz="800" dirty="0" smtClean="0">
                <a:solidFill>
                  <a:schemeClr val="bg2">
                    <a:lumMod val="90000"/>
                  </a:schemeClr>
                </a:solidFill>
              </a:rPr>
              <a:t>여가생활만족도 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: 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출처 국가데이터처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사회조사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[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현재 여가활용에 대해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매우만족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또는 </a:t>
            </a:r>
            <a:r>
              <a:rPr lang="ko-KR" altLang="en-US" sz="800" dirty="0" err="1">
                <a:solidFill>
                  <a:schemeClr val="bg2">
                    <a:lumMod val="90000"/>
                  </a:schemeClr>
                </a:solidFill>
              </a:rPr>
              <a:t>약간만족이라</a:t>
            </a:r>
            <a:r>
              <a:rPr lang="ko-KR" altLang="en-US" sz="800" dirty="0">
                <a:solidFill>
                  <a:schemeClr val="bg2">
                    <a:lumMod val="90000"/>
                  </a:schemeClr>
                </a:solidFill>
              </a:rPr>
              <a:t> 응답한 비율</a:t>
            </a:r>
            <a:r>
              <a:rPr lang="en-US" altLang="ko-KR" sz="800" dirty="0">
                <a:solidFill>
                  <a:schemeClr val="bg2">
                    <a:lumMod val="90000"/>
                  </a:schemeClr>
                </a:solidFill>
              </a:rPr>
              <a:t>]</a:t>
            </a:r>
            <a:endParaRPr lang="en-US" altLang="ko-KR" sz="800" dirty="0">
              <a:solidFill>
                <a:schemeClr val="bg2">
                  <a:lumMod val="9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r"/>
            <a:endParaRPr lang="ko-KR" altLang="en-US" sz="800" dirty="0">
              <a:solidFill>
                <a:schemeClr val="bg2">
                  <a:lumMod val="9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7897" y="1026959"/>
            <a:ext cx="5549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삶의 만족도를 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ERG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이론을 기준으로 나누어 상관관계 분석</a:t>
            </a:r>
            <a:endParaRPr lang="ko-KR" altLang="en-US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307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72832" y="3369979"/>
            <a:ext cx="2356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20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활용</a:t>
            </a:r>
            <a:endParaRPr lang="en-US" altLang="ko-KR" sz="2000" b="1" dirty="0" smtClean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319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5165" y="3244334"/>
            <a:ext cx="4221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https://de05164.pythonanywhere.com/</a:t>
            </a:r>
          </a:p>
        </p:txBody>
      </p:sp>
    </p:spTree>
    <p:extLst>
      <p:ext uri="{BB962C8B-B14F-4D97-AF65-F5344CB8AC3E}">
        <p14:creationId xmlns:p14="http://schemas.microsoft.com/office/powerpoint/2010/main" val="33518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7619321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활용</a:t>
            </a:r>
            <a:endParaRPr lang="ko-KR" altLang="en-US" sz="4400" dirty="0"/>
          </a:p>
        </p:txBody>
      </p:sp>
      <p:sp>
        <p:nvSpPr>
          <p:cNvPr id="8" name="직사각형 7"/>
          <p:cNvSpPr/>
          <p:nvPr/>
        </p:nvSpPr>
        <p:spPr>
          <a:xfrm>
            <a:off x="4092575" y="2179104"/>
            <a:ext cx="438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한국행복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공식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(ERG) +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행복요인분석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데이터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229892" y="3198279"/>
            <a:ext cx="438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키워드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229892" y="4379379"/>
            <a:ext cx="438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솔루션 제공 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연령별</a:t>
            </a:r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2" name="아래쪽 화살표 1"/>
          <p:cNvSpPr/>
          <p:nvPr/>
        </p:nvSpPr>
        <p:spPr>
          <a:xfrm>
            <a:off x="6286047" y="2686050"/>
            <a:ext cx="212310" cy="4286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>
            <a:off x="6299086" y="3788829"/>
            <a:ext cx="212310" cy="4286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17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0">
            <a:extLst>
              <a:ext uri="{FF2B5EF4-FFF2-40B4-BE49-F238E27FC236}">
                <a16:creationId xmlns:a16="http://schemas.microsoft.com/office/drawing/2014/main" id="{0AB40228-DA23-4B45-88B3-D8DFE4F52ABF}"/>
              </a:ext>
            </a:extLst>
          </p:cNvPr>
          <p:cNvSpPr/>
          <p:nvPr/>
        </p:nvSpPr>
        <p:spPr>
          <a:xfrm>
            <a:off x="1676400" y="353177"/>
            <a:ext cx="8636000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키워드 도출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1BE71EF-4575-4235-93A4-E79EC842C55B}"/>
              </a:ext>
            </a:extLst>
          </p:cNvPr>
          <p:cNvGrpSpPr/>
          <p:nvPr/>
        </p:nvGrpSpPr>
        <p:grpSpPr>
          <a:xfrm>
            <a:off x="11366469" y="5630566"/>
            <a:ext cx="433278" cy="833333"/>
            <a:chOff x="11611429" y="5882986"/>
            <a:chExt cx="433278" cy="8333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937EF-901C-40EE-A2BE-355C4AFAD7C4}"/>
                </a:ext>
              </a:extLst>
            </p:cNvPr>
            <p:cNvSpPr txBox="1"/>
            <p:nvPr/>
          </p:nvSpPr>
          <p:spPr>
            <a:xfrm>
              <a:off x="11611429" y="6069988"/>
              <a:ext cx="4332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06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455F48E-C614-4AD4-B976-963A9653C932}"/>
                </a:ext>
              </a:extLst>
            </p:cNvPr>
            <p:cNvSpPr/>
            <p:nvPr/>
          </p:nvSpPr>
          <p:spPr>
            <a:xfrm>
              <a:off x="11694253" y="5882986"/>
              <a:ext cx="350454" cy="10675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0AA467-D284-4160-A535-A482051B0FE6}"/>
              </a:ext>
            </a:extLst>
          </p:cNvPr>
          <p:cNvSpPr/>
          <p:nvPr/>
        </p:nvSpPr>
        <p:spPr>
          <a:xfrm>
            <a:off x="2891644" y="1025404"/>
            <a:ext cx="6408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연령별 스트레스 요인</a:t>
            </a:r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003634" y="585097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endParaRPr lang="en-US" altLang="ko-KR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endParaRPr lang="en-US" altLang="ko-KR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endParaRPr lang="ko-KR" altLang="en-US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5"/>
          <a:stretch/>
        </p:blipFill>
        <p:spPr>
          <a:xfrm>
            <a:off x="798484" y="1864901"/>
            <a:ext cx="5297515" cy="381904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426200" y="2045754"/>
            <a:ext cx="43869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대 이후로 돈과 가족문제에 대한 스트레스의 비중이 </a:t>
            </a:r>
            <a:r>
              <a:rPr lang="ko-KR" altLang="en-US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높아지는것으로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보아 결혼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자녀문제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또는 부모의 </a:t>
            </a:r>
            <a:r>
              <a:rPr lang="ko-KR" altLang="en-US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부양등의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이유로 돈의 필요성이 증가되는 것으로 </a:t>
            </a:r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보임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ko-KR" altLang="en-US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dirty="0" smtClean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연령이 증가함에 따라</a:t>
            </a:r>
            <a:endParaRPr lang="en-US" altLang="ko-KR" dirty="0" smtClean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돈</a:t>
            </a:r>
            <a:r>
              <a:rPr lang="en-US" altLang="ko-KR" b="1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경제적인 문제가 스트레스 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요인으로 크게 작용한다고 추정할 수 있다</a:t>
            </a:r>
            <a:r>
              <a:rPr lang="en-US" altLang="ko-KR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20,30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대 는 일</a:t>
            </a:r>
            <a:r>
              <a:rPr lang="en-US" altLang="ko-KR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직업과 관련된 정보를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40,50</a:t>
            </a:r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대는 돈과 관련된 정보를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솔루션 키워드로 도출한다</a:t>
            </a:r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endParaRPr lang="en-US" altLang="ko-KR" b="1" dirty="0" smtClean="0">
              <a:solidFill>
                <a:srgbClr val="FF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90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0">
            <a:extLst>
              <a:ext uri="{FF2B5EF4-FFF2-40B4-BE49-F238E27FC236}">
                <a16:creationId xmlns:a16="http://schemas.microsoft.com/office/drawing/2014/main" id="{0AB40228-DA23-4B45-88B3-D8DFE4F52ABF}"/>
              </a:ext>
            </a:extLst>
          </p:cNvPr>
          <p:cNvSpPr/>
          <p:nvPr/>
        </p:nvSpPr>
        <p:spPr>
          <a:xfrm>
            <a:off x="1676400" y="353177"/>
            <a:ext cx="8636000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결과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1BE71EF-4575-4235-93A4-E79EC842C55B}"/>
              </a:ext>
            </a:extLst>
          </p:cNvPr>
          <p:cNvGrpSpPr/>
          <p:nvPr/>
        </p:nvGrpSpPr>
        <p:grpSpPr>
          <a:xfrm>
            <a:off x="11366469" y="5630566"/>
            <a:ext cx="433278" cy="833333"/>
            <a:chOff x="11611429" y="5882986"/>
            <a:chExt cx="433278" cy="8333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937EF-901C-40EE-A2BE-355C4AFAD7C4}"/>
                </a:ext>
              </a:extLst>
            </p:cNvPr>
            <p:cNvSpPr txBox="1"/>
            <p:nvPr/>
          </p:nvSpPr>
          <p:spPr>
            <a:xfrm>
              <a:off x="11611429" y="6069988"/>
              <a:ext cx="4332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06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455F48E-C614-4AD4-B976-963A9653C932}"/>
                </a:ext>
              </a:extLst>
            </p:cNvPr>
            <p:cNvSpPr/>
            <p:nvPr/>
          </p:nvSpPr>
          <p:spPr>
            <a:xfrm>
              <a:off x="11694253" y="5882986"/>
              <a:ext cx="350454" cy="10675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0AA467-D284-4160-A535-A482051B0FE6}"/>
              </a:ext>
            </a:extLst>
          </p:cNvPr>
          <p:cNvSpPr/>
          <p:nvPr/>
        </p:nvSpPr>
        <p:spPr>
          <a:xfrm>
            <a:off x="2891644" y="1025404"/>
            <a:ext cx="6408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데이터 프레임</a:t>
            </a:r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003634" y="585097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endParaRPr lang="en-US" altLang="ko-KR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endParaRPr lang="en-US" altLang="ko-KR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endParaRPr lang="ko-KR" altLang="en-US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65" y="1535557"/>
            <a:ext cx="2774433" cy="52387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b="25012"/>
          <a:stretch/>
        </p:blipFill>
        <p:spPr>
          <a:xfrm>
            <a:off x="4529675" y="1535557"/>
            <a:ext cx="3147424" cy="5238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572" y="1535557"/>
            <a:ext cx="2171922" cy="514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2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0">
            <a:extLst>
              <a:ext uri="{FF2B5EF4-FFF2-40B4-BE49-F238E27FC236}">
                <a16:creationId xmlns:a16="http://schemas.microsoft.com/office/drawing/2014/main" id="{0AB40228-DA23-4B45-88B3-D8DFE4F52ABF}"/>
              </a:ext>
            </a:extLst>
          </p:cNvPr>
          <p:cNvSpPr/>
          <p:nvPr/>
        </p:nvSpPr>
        <p:spPr>
          <a:xfrm>
            <a:off x="1676400" y="353177"/>
            <a:ext cx="8636000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한계점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1BE71EF-4575-4235-93A4-E79EC842C55B}"/>
              </a:ext>
            </a:extLst>
          </p:cNvPr>
          <p:cNvGrpSpPr/>
          <p:nvPr/>
        </p:nvGrpSpPr>
        <p:grpSpPr>
          <a:xfrm>
            <a:off x="11366469" y="5630566"/>
            <a:ext cx="433278" cy="833333"/>
            <a:chOff x="11611429" y="5882986"/>
            <a:chExt cx="433278" cy="8333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937EF-901C-40EE-A2BE-355C4AFAD7C4}"/>
                </a:ext>
              </a:extLst>
            </p:cNvPr>
            <p:cNvSpPr txBox="1"/>
            <p:nvPr/>
          </p:nvSpPr>
          <p:spPr>
            <a:xfrm>
              <a:off x="11611429" y="6069988"/>
              <a:ext cx="4332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06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455F48E-C614-4AD4-B976-963A9653C932}"/>
                </a:ext>
              </a:extLst>
            </p:cNvPr>
            <p:cNvSpPr/>
            <p:nvPr/>
          </p:nvSpPr>
          <p:spPr>
            <a:xfrm>
              <a:off x="11694253" y="5882986"/>
              <a:ext cx="350454" cy="10675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0AA467-D284-4160-A535-A482051B0FE6}"/>
              </a:ext>
            </a:extLst>
          </p:cNvPr>
          <p:cNvSpPr/>
          <p:nvPr/>
        </p:nvSpPr>
        <p:spPr>
          <a:xfrm>
            <a:off x="2891644" y="1025404"/>
            <a:ext cx="6408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데이터 프레임</a:t>
            </a:r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003634" y="585097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endParaRPr lang="en-US" altLang="ko-KR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endParaRPr lang="en-US" altLang="ko-KR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endParaRPr lang="ko-KR" altLang="en-US" kern="100" spc="-70" dirty="0">
              <a:ln w="3175" cap="rnd"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418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308EA9ED-C372-4917-9D99-AE367F83ADE9}"/>
              </a:ext>
            </a:extLst>
          </p:cNvPr>
          <p:cNvGrpSpPr/>
          <p:nvPr/>
        </p:nvGrpSpPr>
        <p:grpSpPr>
          <a:xfrm>
            <a:off x="774108" y="2575553"/>
            <a:ext cx="10649919" cy="3548662"/>
            <a:chOff x="774108" y="2575553"/>
            <a:chExt cx="10649919" cy="354866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F8344D7-4ADA-4A88-8100-C4A8D852629E}"/>
                </a:ext>
              </a:extLst>
            </p:cNvPr>
            <p:cNvSpPr/>
            <p:nvPr/>
          </p:nvSpPr>
          <p:spPr>
            <a:xfrm>
              <a:off x="805809" y="2939223"/>
              <a:ext cx="4256994" cy="67710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dist"/>
              <a:r>
                <a:rPr lang="en-US" altLang="ko-KR" sz="4400" kern="100" spc="-70" dirty="0" smtClean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Q&amp;A</a:t>
              </a:r>
              <a:endParaRPr lang="ko-KR" altLang="en-US" sz="44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A3ECB377-47C2-43D1-B5B8-BB6D9FE36522}"/>
                </a:ext>
              </a:extLst>
            </p:cNvPr>
            <p:cNvSpPr/>
            <p:nvPr/>
          </p:nvSpPr>
          <p:spPr>
            <a:xfrm>
              <a:off x="9379327" y="5104830"/>
              <a:ext cx="2044700" cy="64344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24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PAPATA </a:t>
              </a:r>
            </a:p>
            <a:p>
              <a:pPr algn="r"/>
              <a:r>
                <a:rPr lang="en-US" altLang="ko-KR" sz="24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LABS DESIGN</a:t>
              </a:r>
              <a:endParaRPr lang="ko-KR" altLang="en-US" sz="24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9A2D908-C289-41A6-A996-145EAAADC091}"/>
                </a:ext>
              </a:extLst>
            </p:cNvPr>
            <p:cNvSpPr/>
            <p:nvPr/>
          </p:nvSpPr>
          <p:spPr>
            <a:xfrm>
              <a:off x="774108" y="5916465"/>
              <a:ext cx="2459006" cy="1384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9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COPYRIGHT </a:t>
              </a:r>
              <a:r>
                <a:rPr lang="ko-KR" altLang="en-US" sz="9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ⓒ </a:t>
              </a:r>
              <a:r>
                <a:rPr lang="en-US" altLang="ko-KR" sz="900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ALL RIGHT RESERVED BY PAPATALABS</a:t>
              </a:r>
              <a:endParaRPr lang="ko-KR" altLang="en-US" sz="9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969B99-0D62-40AC-AF72-73D4521EA716}"/>
                </a:ext>
              </a:extLst>
            </p:cNvPr>
            <p:cNvSpPr txBox="1"/>
            <p:nvPr/>
          </p:nvSpPr>
          <p:spPr>
            <a:xfrm>
              <a:off x="9373192" y="5847216"/>
              <a:ext cx="20447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200" kern="10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www.papatalabs.com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8F1E243-2870-4821-97FE-B6BCDD7EA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495" y="2575553"/>
              <a:ext cx="1706299" cy="236614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4951199-0D01-45F2-84BA-B5532D73177F}"/>
                </a:ext>
              </a:extLst>
            </p:cNvPr>
            <p:cNvCxnSpPr>
              <a:cxnSpLocks/>
            </p:cNvCxnSpPr>
            <p:nvPr/>
          </p:nvCxnSpPr>
          <p:spPr>
            <a:xfrm>
              <a:off x="3695966" y="5985714"/>
              <a:ext cx="561948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318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0AB40228-DA23-4B45-88B3-D8DFE4F52ABF}"/>
              </a:ext>
            </a:extLst>
          </p:cNvPr>
          <p:cNvSpPr/>
          <p:nvPr/>
        </p:nvSpPr>
        <p:spPr>
          <a:xfrm>
            <a:off x="1676400" y="353177"/>
            <a:ext cx="8636000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</a:t>
            </a:r>
            <a:r>
              <a:rPr lang="ko-KR" altLang="en-US" sz="44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상질문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927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2277607" y="3234715"/>
            <a:ext cx="7590293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예상질문</a:t>
            </a:r>
            <a:r>
              <a:rPr lang="en-US" altLang="ko-KR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 : </a:t>
            </a:r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왜 행복해야 하는가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1742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054" y="1857613"/>
            <a:ext cx="5900728" cy="2177650"/>
          </a:xfrm>
          <a:prstGeom prst="rect">
            <a:avLst/>
          </a:prstGeom>
        </p:spPr>
      </p:pic>
      <p:sp>
        <p:nvSpPr>
          <p:cNvPr id="10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7619321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219240" y="7096691"/>
            <a:ext cx="49969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뇌과학적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측면에서 분석하기 위해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행복의 호르몬 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“</a:t>
            </a:r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도파민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“ </a:t>
            </a:r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에대한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논문 </a:t>
            </a:r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자료참조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6988969"/>
            <a:ext cx="7262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[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학위논문</a:t>
            </a:r>
            <a:r>
              <a:rPr lang="en-US" altLang="ko-KR" b="1" dirty="0">
                <a:solidFill>
                  <a:srgbClr val="000000"/>
                </a:solidFill>
                <a:latin typeface="inherit"/>
              </a:rPr>
              <a:t>]</a:t>
            </a:r>
            <a:r>
              <a:rPr lang="ko-KR" altLang="en-US" b="1" dirty="0">
                <a:solidFill>
                  <a:srgbClr val="000000"/>
                </a:solidFill>
                <a:latin typeface="SUIT Variable"/>
              </a:rPr>
              <a:t> </a:t>
            </a:r>
            <a:r>
              <a:rPr lang="ko-KR" altLang="en-US" b="1" dirty="0">
                <a:solidFill>
                  <a:srgbClr val="000000"/>
                </a:solidFill>
                <a:latin typeface="inherit"/>
              </a:rPr>
              <a:t>도파민의 구조와 </a:t>
            </a:r>
            <a:r>
              <a:rPr lang="ko-KR" altLang="en-US" b="1" dirty="0" smtClean="0">
                <a:solidFill>
                  <a:srgbClr val="000000"/>
                </a:solidFill>
                <a:latin typeface="inherit"/>
              </a:rPr>
              <a:t>기능</a:t>
            </a:r>
            <a:endParaRPr lang="en-US" altLang="ko-KR" b="1" dirty="0" smtClean="0">
              <a:solidFill>
                <a:srgbClr val="000000"/>
              </a:solidFill>
              <a:latin typeface="inherit"/>
            </a:endParaRPr>
          </a:p>
          <a:p>
            <a:pPr fontAlgn="base"/>
            <a:r>
              <a:rPr lang="en-US" altLang="ko-KR" b="1" dirty="0">
                <a:solidFill>
                  <a:srgbClr val="000000"/>
                </a:solidFill>
                <a:latin typeface="SUIT Variable"/>
              </a:rPr>
              <a:t>https://scienceon.kisti.re.kr/srch/selectPORSrchArticle.do?cn=DIKO0014194500</a:t>
            </a:r>
            <a:endParaRPr lang="ko-KR" altLang="en-US" b="1" i="0" dirty="0">
              <a:solidFill>
                <a:srgbClr val="000000"/>
              </a:solidFill>
              <a:effectLst/>
              <a:latin typeface="SUIT Variabl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7FF86-871D-4566-BD6B-F640E00AA98D}"/>
              </a:ext>
            </a:extLst>
          </p:cNvPr>
          <p:cNvSpPr txBox="1"/>
          <p:nvPr/>
        </p:nvSpPr>
        <p:spPr>
          <a:xfrm>
            <a:off x="11366469" y="5817568"/>
            <a:ext cx="433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0FBA50-E1F2-4E43-B740-B573D0700D07}"/>
              </a:ext>
            </a:extLst>
          </p:cNvPr>
          <p:cNvSpPr/>
          <p:nvPr/>
        </p:nvSpPr>
        <p:spPr>
          <a:xfrm>
            <a:off x="11449293" y="5630566"/>
            <a:ext cx="350454" cy="1067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88516" y="1142816"/>
            <a:ext cx="44372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행복을 느끼면 뇌에서 일어나는 일</a:t>
            </a:r>
            <a:endParaRPr lang="ko-KR" altLang="en-US" sz="2000" dirty="0"/>
          </a:p>
        </p:txBody>
      </p:sp>
      <p:pic>
        <p:nvPicPr>
          <p:cNvPr id="3074" name="Picture 2" descr="뇌의 비밀: 행복 호르몬 세로토닌과 명상의 관계 : MMSKORE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1" t="13720" r="19064" b="18331"/>
          <a:stretch/>
        </p:blipFill>
        <p:spPr bwMode="auto">
          <a:xfrm>
            <a:off x="962556" y="2105892"/>
            <a:ext cx="3722177" cy="352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5456054" y="4922680"/>
            <a:ext cx="44372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 호르몬 중 하나인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도파민의 긍정적인 효과는 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“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동기부여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＂</a:t>
            </a:r>
            <a:endParaRPr lang="ko-KR" altLang="en-US" sz="2000" dirty="0"/>
          </a:p>
        </p:txBody>
      </p:sp>
      <p:sp>
        <p:nvSpPr>
          <p:cNvPr id="17" name="아래쪽 화살표 16"/>
          <p:cNvSpPr/>
          <p:nvPr/>
        </p:nvSpPr>
        <p:spPr>
          <a:xfrm>
            <a:off x="7917176" y="3778769"/>
            <a:ext cx="978484" cy="9895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8676143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왜 행복해야 하는가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6483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98"/>
          <a:stretch/>
        </p:blipFill>
        <p:spPr>
          <a:xfrm>
            <a:off x="8251286" y="1753284"/>
            <a:ext cx="2653280" cy="180086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05738" y="3554148"/>
            <a:ext cx="294129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사냥한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맘모스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고기를 먹었음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배부르고 행복함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 호르몬을 뇌가 기억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334507" y="367690"/>
            <a:ext cx="7619321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왜 행복이 생존과 관련이 있을까</a:t>
            </a:r>
            <a:r>
              <a:rPr lang="en-US" altLang="ko-KR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107186" y="3594926"/>
            <a:ext cx="37033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배고프다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또 </a:t>
            </a:r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맘모스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먹고 싶다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…</a:t>
            </a:r>
          </a:p>
          <a:p>
            <a:pPr algn="ctr"/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맘모스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고기를 떠올리면 저장된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  <a:p>
            <a:pPr algn="ctr"/>
            <a:r>
              <a:rPr lang="ko-KR" altLang="en-US" sz="2000" dirty="0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기억에 따라 행복호르몬이 나옴</a:t>
            </a:r>
            <a:endParaRPr lang="ko-KR" altLang="en-US" sz="2000" dirty="0">
              <a:solidFill>
                <a:srgbClr val="FF0000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170657" y="3711157"/>
            <a:ext cx="29412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맘모스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  <a:p>
            <a:pPr algn="ctr"/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잡아야겠다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!</a:t>
            </a:r>
          </a:p>
          <a:p>
            <a:pPr algn="ctr"/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  <a:p>
            <a:pPr algn="ctr"/>
            <a:r>
              <a:rPr lang="ko-KR" altLang="en-US" sz="2000" dirty="0" smtClean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동기부여</a:t>
            </a:r>
            <a:r>
              <a:rPr lang="ko-KR" altLang="en-US" sz="2000" dirty="0" smtClean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가 됨</a:t>
            </a:r>
            <a:endParaRPr lang="ko-KR" altLang="en-US" sz="2000"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05739" y="5712289"/>
            <a:ext cx="10098828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그러므로 행복 호르몬 때문에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삶의 목표를 이룰 가능성이 높아지고</a:t>
            </a:r>
            <a:r>
              <a:rPr lang="en-US" altLang="ko-KR" sz="20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생존할 확률이 높아진다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7FF86-871D-4566-BD6B-F640E00AA98D}"/>
              </a:ext>
            </a:extLst>
          </p:cNvPr>
          <p:cNvSpPr txBox="1"/>
          <p:nvPr/>
        </p:nvSpPr>
        <p:spPr>
          <a:xfrm>
            <a:off x="11366469" y="5817568"/>
            <a:ext cx="433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0FBA50-E1F2-4E43-B740-B573D0700D07}"/>
              </a:ext>
            </a:extLst>
          </p:cNvPr>
          <p:cNvSpPr/>
          <p:nvPr/>
        </p:nvSpPr>
        <p:spPr>
          <a:xfrm>
            <a:off x="11449293" y="5630566"/>
            <a:ext cx="350454" cy="1067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2" descr="학습과학의 이해와 적용(18) - 동기는 뇌 보상 시스템(reward system)의 도파민 분비에 달렸다. | 교육을바꾸는사람들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6" t="2828" r="33057" b="3669"/>
          <a:stretch/>
        </p:blipFill>
        <p:spPr bwMode="auto">
          <a:xfrm>
            <a:off x="5009830" y="2000726"/>
            <a:ext cx="1693203" cy="137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58" y="1501357"/>
            <a:ext cx="1067569" cy="1067569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488516" y="1142816"/>
            <a:ext cx="44372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행복을 느끼면 뇌에서 일어나는 일</a:t>
            </a:r>
            <a:endParaRPr lang="ko-KR" altLang="en-US" sz="2000" dirty="0"/>
          </a:p>
        </p:txBody>
      </p:sp>
      <p:pic>
        <p:nvPicPr>
          <p:cNvPr id="19" name="Picture 2" descr="학습과학의 이해와 적용(18) - 동기는 뇌 보상 시스템(reward system)의 도파민 분비에 달렸다. | 교육을바꾸는사람들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6" t="2828" r="33057" b="3669"/>
          <a:stretch/>
        </p:blipFill>
        <p:spPr bwMode="auto">
          <a:xfrm>
            <a:off x="1429783" y="2000726"/>
            <a:ext cx="1693203" cy="137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52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2A4D50DF-10F4-42CD-B710-45A4A0F6380E}"/>
              </a:ext>
            </a:extLst>
          </p:cNvPr>
          <p:cNvSpPr/>
          <p:nvPr/>
        </p:nvSpPr>
        <p:spPr>
          <a:xfrm>
            <a:off x="428230" y="473565"/>
            <a:ext cx="9211716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행복 호르몬의 부정적인 부분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08754" y="4036155"/>
            <a:ext cx="42544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예를 들어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마약으로 </a:t>
            </a:r>
            <a:r>
              <a:rPr lang="ko-KR" altLang="en-US" sz="2000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얻는 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a typeface="나눔스퀘어 ExtraBold" panose="020B0600000101010101" pitchFamily="50" charset="-127"/>
              </a:rPr>
              <a:t>강한 행복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은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인간의 본능인 식욕이 감퇴함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  <a:p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기본적인 욕구인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ea typeface="나눔스퀘어 ExtraBold" panose="020B0600000101010101" pitchFamily="50" charset="-127"/>
              </a:rPr>
              <a:t>식욕과 반대되는 양상을 띄므로</a:t>
            </a:r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  <a:p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a typeface="나눔스퀘어 ExtraBold" panose="020B0600000101010101" pitchFamily="50" charset="-127"/>
              </a:rPr>
              <a:t>마약은 생존과 관련이 없음</a:t>
            </a:r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a typeface="나눔스퀘어 ExtraBold" panose="020B0600000101010101" pitchFamily="50" charset="-127"/>
            </a:endParaRPr>
          </a:p>
          <a:p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ea typeface="나눔스퀘어 Extra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77" y="1657931"/>
            <a:ext cx="4196805" cy="231460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535" y="2149653"/>
            <a:ext cx="5392808" cy="431424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095491" y="5542773"/>
            <a:ext cx="5033902" cy="524652"/>
          </a:xfrm>
          <a:prstGeom prst="rect">
            <a:avLst/>
          </a:prstGeom>
          <a:noFill/>
          <a:ln w="57150"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700" kern="100" spc="-8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7FF86-871D-4566-BD6B-F640E00AA98D}"/>
              </a:ext>
            </a:extLst>
          </p:cNvPr>
          <p:cNvSpPr txBox="1"/>
          <p:nvPr/>
        </p:nvSpPr>
        <p:spPr>
          <a:xfrm>
            <a:off x="11366469" y="5817568"/>
            <a:ext cx="433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0FBA50-E1F2-4E43-B740-B573D0700D07}"/>
              </a:ext>
            </a:extLst>
          </p:cNvPr>
          <p:cNvSpPr/>
          <p:nvPr/>
        </p:nvSpPr>
        <p:spPr>
          <a:xfrm>
            <a:off x="11449293" y="5630566"/>
            <a:ext cx="350454" cy="1067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88516" y="1142816"/>
            <a:ext cx="6163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도파민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관련 주요 부작용 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중독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섭식행동이상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3404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47FF86-871D-4566-BD6B-F640E00AA98D}"/>
              </a:ext>
            </a:extLst>
          </p:cNvPr>
          <p:cNvSpPr txBox="1"/>
          <p:nvPr/>
        </p:nvSpPr>
        <p:spPr>
          <a:xfrm>
            <a:off x="11366469" y="5817568"/>
            <a:ext cx="433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0FBA50-E1F2-4E43-B740-B573D0700D07}"/>
              </a:ext>
            </a:extLst>
          </p:cNvPr>
          <p:cNvSpPr/>
          <p:nvPr/>
        </p:nvSpPr>
        <p:spPr>
          <a:xfrm>
            <a:off x="11449293" y="5630566"/>
            <a:ext cx="350454" cy="1067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924" y="2057135"/>
            <a:ext cx="5367726" cy="302203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79314" y="2136989"/>
            <a:ext cx="47476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그러므로 </a:t>
            </a: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ko-KR" altLang="en-US" kern="100" spc="-70" dirty="0" err="1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뇌과학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 측면에서</a:t>
            </a: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en-US" altLang="ko-KR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ea typeface="나눔스퀘어 ExtraBold" panose="020B0600000101010101" pitchFamily="50" charset="-127"/>
              </a:rPr>
              <a:t>“</a:t>
            </a:r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ea typeface="나눔스퀘어 ExtraBold" panose="020B0600000101010101" pitchFamily="50" charset="-127"/>
              </a:rPr>
              <a:t>장기전인 인생에서는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7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ea typeface="나눔스퀘어 ExtraBold" panose="020B0600000101010101" pitchFamily="50" charset="-127"/>
              </a:rPr>
              <a:t>즐거움의 강도보단 빈도가 훨씬 중요하다</a:t>
            </a:r>
            <a:r>
              <a:rPr lang="en-US" altLang="ko-KR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ea typeface="나눔스퀘어 ExtraBold" panose="020B0600000101010101" pitchFamily="50" charset="-127"/>
              </a:rPr>
              <a:t>”</a:t>
            </a:r>
          </a:p>
          <a:p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그러므로 진정 잘 살기 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위해서는</a:t>
            </a:r>
            <a:endParaRPr lang="en-US" altLang="ko-KR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단발적인 강한 행복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쾌락</a:t>
            </a:r>
            <a:r>
              <a:rPr lang="en-US" altLang="ko-KR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) </a:t>
            </a:r>
            <a:r>
              <a:rPr lang="ko-KR" altLang="en-US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스퀘어 ExtraBold" panose="020B0600000101010101" pitchFamily="50" charset="-127"/>
              </a:rPr>
              <a:t>보다는</a:t>
            </a:r>
            <a:endParaRPr lang="en-US" altLang="ko-KR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ko-KR" altLang="en-US" kern="100" spc="-70" dirty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a typeface="나눔스퀘어 ExtraBold" panose="020B0600000101010101" pitchFamily="50" charset="-127"/>
              </a:rPr>
              <a:t>지속적인 행복이 중요하다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3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805739" y="2882003"/>
            <a:ext cx="10098828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그래서 우리는 행복에 도움이 되는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정보를 통계적으로 분석하여 </a:t>
            </a:r>
            <a:endParaRPr lang="en-US" altLang="ko-KR" sz="2000" kern="100" spc="-70" dirty="0" smtClean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솔루션을 제공하고자 한다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802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0">
            <a:extLst>
              <a:ext uri="{FF2B5EF4-FFF2-40B4-BE49-F238E27FC236}">
                <a16:creationId xmlns:a16="http://schemas.microsoft.com/office/drawing/2014/main" id="{0AB40228-DA23-4B45-88B3-D8DFE4F52ABF}"/>
              </a:ext>
            </a:extLst>
          </p:cNvPr>
          <p:cNvSpPr/>
          <p:nvPr/>
        </p:nvSpPr>
        <p:spPr>
          <a:xfrm>
            <a:off x="1676400" y="353177"/>
            <a:ext cx="8636000" cy="69609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연령별 스트레스 원인</a:t>
            </a:r>
            <a:endParaRPr lang="ko-KR" altLang="en-US" sz="44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1BE71EF-4575-4235-93A4-E79EC842C55B}"/>
              </a:ext>
            </a:extLst>
          </p:cNvPr>
          <p:cNvGrpSpPr/>
          <p:nvPr/>
        </p:nvGrpSpPr>
        <p:grpSpPr>
          <a:xfrm>
            <a:off x="11366469" y="5630566"/>
            <a:ext cx="433278" cy="833333"/>
            <a:chOff x="11611429" y="5882986"/>
            <a:chExt cx="433278" cy="8333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937EF-901C-40EE-A2BE-355C4AFAD7C4}"/>
                </a:ext>
              </a:extLst>
            </p:cNvPr>
            <p:cNvSpPr txBox="1"/>
            <p:nvPr/>
          </p:nvSpPr>
          <p:spPr>
            <a:xfrm>
              <a:off x="11611429" y="6069988"/>
              <a:ext cx="4332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kern="100" spc="-70" dirty="0">
                  <a:ln w="3175" cap="rnd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06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455F48E-C614-4AD4-B976-963A9653C932}"/>
                </a:ext>
              </a:extLst>
            </p:cNvPr>
            <p:cNvSpPr/>
            <p:nvPr/>
          </p:nvSpPr>
          <p:spPr>
            <a:xfrm>
              <a:off x="11694253" y="5882986"/>
              <a:ext cx="350454" cy="10675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0AA467-D284-4160-A535-A482051B0FE6}"/>
              </a:ext>
            </a:extLst>
          </p:cNvPr>
          <p:cNvSpPr/>
          <p:nvPr/>
        </p:nvSpPr>
        <p:spPr>
          <a:xfrm>
            <a:off x="2931310" y="947669"/>
            <a:ext cx="6408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10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대부터 </a:t>
            </a:r>
            <a:r>
              <a:rPr lang="en-US" altLang="ko-KR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60</a:t>
            </a:r>
            <a:r>
              <a:rPr lang="ko-KR" altLang="en-US" sz="2000" kern="100" spc="-70" dirty="0" smtClean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대까지 </a:t>
            </a:r>
            <a:endParaRPr lang="en-US" altLang="ko-KR" sz="2000" kern="100" spc="-70" dirty="0">
              <a:ln w="3175" cap="rnd"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76205A-AE97-4F96-95B6-8EF4E9A2DAF5}"/>
              </a:ext>
            </a:extLst>
          </p:cNvPr>
          <p:cNvCxnSpPr>
            <a:cxnSpLocks/>
          </p:cNvCxnSpPr>
          <p:nvPr/>
        </p:nvCxnSpPr>
        <p:spPr>
          <a:xfrm>
            <a:off x="1458188" y="1632260"/>
            <a:ext cx="9354956" cy="0"/>
          </a:xfrm>
          <a:prstGeom prst="line">
            <a:avLst/>
          </a:prstGeom>
          <a:ln w="2286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9425C26-8897-4B5A-A49C-A9E4C582F1DC}"/>
              </a:ext>
            </a:extLst>
          </p:cNvPr>
          <p:cNvCxnSpPr>
            <a:cxnSpLocks/>
          </p:cNvCxnSpPr>
          <p:nvPr/>
        </p:nvCxnSpPr>
        <p:spPr>
          <a:xfrm>
            <a:off x="1458188" y="5572510"/>
            <a:ext cx="9354956" cy="0"/>
          </a:xfrm>
          <a:prstGeom prst="line">
            <a:avLst/>
          </a:prstGeom>
          <a:ln w="228600">
            <a:solidFill>
              <a:schemeClr val="tx1">
                <a:lumMod val="75000"/>
                <a:lumOff val="2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6">
            <a:extLst>
              <a:ext uri="{FF2B5EF4-FFF2-40B4-BE49-F238E27FC236}">
                <a16:creationId xmlns:a16="http://schemas.microsoft.com/office/drawing/2014/main" id="{C3A6765C-1B48-43A7-BFDA-87B67A63B95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58188" y="1855265"/>
          <a:ext cx="9354961" cy="350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423">
                  <a:extLst>
                    <a:ext uri="{9D8B030D-6E8A-4147-A177-3AD203B41FA5}">
                      <a16:colId xmlns:a16="http://schemas.microsoft.com/office/drawing/2014/main" val="622888275"/>
                    </a:ext>
                  </a:extLst>
                </a:gridCol>
                <a:gridCol w="1336423">
                  <a:extLst>
                    <a:ext uri="{9D8B030D-6E8A-4147-A177-3AD203B41FA5}">
                      <a16:colId xmlns:a16="http://schemas.microsoft.com/office/drawing/2014/main" val="2968255590"/>
                    </a:ext>
                  </a:extLst>
                </a:gridCol>
                <a:gridCol w="1336423">
                  <a:extLst>
                    <a:ext uri="{9D8B030D-6E8A-4147-A177-3AD203B41FA5}">
                      <a16:colId xmlns:a16="http://schemas.microsoft.com/office/drawing/2014/main" val="988544627"/>
                    </a:ext>
                  </a:extLst>
                </a:gridCol>
                <a:gridCol w="1336423">
                  <a:extLst>
                    <a:ext uri="{9D8B030D-6E8A-4147-A177-3AD203B41FA5}">
                      <a16:colId xmlns:a16="http://schemas.microsoft.com/office/drawing/2014/main" val="1639793177"/>
                    </a:ext>
                  </a:extLst>
                </a:gridCol>
                <a:gridCol w="1336423">
                  <a:extLst>
                    <a:ext uri="{9D8B030D-6E8A-4147-A177-3AD203B41FA5}">
                      <a16:colId xmlns:a16="http://schemas.microsoft.com/office/drawing/2014/main" val="411356965"/>
                    </a:ext>
                  </a:extLst>
                </a:gridCol>
                <a:gridCol w="1336423">
                  <a:extLst>
                    <a:ext uri="{9D8B030D-6E8A-4147-A177-3AD203B41FA5}">
                      <a16:colId xmlns:a16="http://schemas.microsoft.com/office/drawing/2014/main" val="3096207528"/>
                    </a:ext>
                  </a:extLst>
                </a:gridCol>
                <a:gridCol w="1336423">
                  <a:extLst>
                    <a:ext uri="{9D8B030D-6E8A-4147-A177-3AD203B41FA5}">
                      <a16:colId xmlns:a16="http://schemas.microsoft.com/office/drawing/2014/main" val="3005817139"/>
                    </a:ext>
                  </a:extLst>
                </a:gridCol>
              </a:tblGrid>
              <a:tr h="87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30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40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50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60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51938"/>
                  </a:ext>
                </a:extLst>
              </a:tr>
              <a:tr h="87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위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공부</a:t>
                      </a:r>
                      <a:r>
                        <a:rPr kumimoji="0" lang="en-US" altLang="ko-KR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성적</a:t>
                      </a:r>
                      <a:r>
                        <a:rPr kumimoji="0" lang="en-US" altLang="ko-KR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적성</a:t>
                      </a:r>
                      <a:r>
                        <a:rPr kumimoji="0" lang="en-US" altLang="ko-KR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직업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직업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돈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돈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돈</a:t>
                      </a:r>
                      <a:endParaRPr kumimoji="0" lang="ko-KR" altLang="en-US" sz="1100" b="1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976511"/>
                  </a:ext>
                </a:extLst>
              </a:tr>
              <a:tr h="87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위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직업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돈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돈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직업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직업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가족문제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668396"/>
                  </a:ext>
                </a:extLst>
              </a:tr>
              <a:tr h="87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위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외모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err="1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일거리부족</a:t>
                      </a:r>
                      <a:r>
                        <a:rPr kumimoji="0" lang="en-US" altLang="ko-KR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실직</a:t>
                      </a:r>
                      <a:endParaRPr kumimoji="0" lang="ko-KR" altLang="en-US" sz="1100" b="0" i="0" u="none" strike="noStrike" kern="100" cap="none" spc="-70" normalizeH="0" baseline="0" noProof="0" dirty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가족문제</a:t>
                      </a:r>
                      <a:endParaRPr kumimoji="0" lang="en-US" altLang="ko-KR" sz="1100" b="0" i="0" u="none" strike="noStrike" kern="100" cap="none" spc="-70" normalizeH="0" baseline="0" noProof="0" dirty="0" smtClean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가족문제</a:t>
                      </a:r>
                      <a:endParaRPr kumimoji="0" lang="en-US" altLang="ko-KR" sz="1100" b="0" i="0" u="none" strike="noStrike" kern="100" cap="none" spc="-70" normalizeH="0" baseline="0" noProof="0" dirty="0" smtClean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가족문제</a:t>
                      </a:r>
                      <a:endParaRPr kumimoji="0" lang="en-US" altLang="ko-KR" sz="1100" b="0" i="0" u="none" strike="noStrike" kern="100" cap="none" spc="-70" normalizeH="0" baseline="0" noProof="0" dirty="0" smtClean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-70" normalizeH="0" baseline="0" noProof="0" dirty="0" smtClean="0">
                          <a:ln w="3175" cap="rnd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직업</a:t>
                      </a:r>
                      <a:endParaRPr kumimoji="0" lang="en-US" altLang="ko-KR" sz="1100" b="0" i="0" u="none" strike="noStrike" kern="100" cap="none" spc="-70" normalizeH="0" baseline="0" noProof="0" dirty="0" smtClean="0">
                        <a:ln w="3175" cap="rnd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33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30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1661</Words>
  <Application>Microsoft Office PowerPoint</Application>
  <PresentationFormat>와이드스크린</PresentationFormat>
  <Paragraphs>394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7" baseType="lpstr">
      <vt:lpstr>inherit</vt:lpstr>
      <vt:lpstr>SUIT Variable</vt:lpstr>
      <vt:lpstr>system-ui</vt:lpstr>
      <vt:lpstr>나눔스퀘어</vt:lpstr>
      <vt:lpstr>나눔스퀘어 Bold</vt:lpstr>
      <vt:lpstr>나눔스퀘어 ExtraBold</vt:lpstr>
      <vt:lpstr>나눔스퀘어 Light</vt:lpstr>
      <vt:lpstr>나눔스퀘어OTF ExtraBold</vt:lpstr>
      <vt:lpstr>나눔스퀘어OTF Light</vt:lpstr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ITSC</dc:creator>
  <cp:lastModifiedBy>ITSC</cp:lastModifiedBy>
  <cp:revision>176</cp:revision>
  <dcterms:created xsi:type="dcterms:W3CDTF">2025-11-12T02:27:41Z</dcterms:created>
  <dcterms:modified xsi:type="dcterms:W3CDTF">2025-11-13T08:51:09Z</dcterms:modified>
</cp:coreProperties>
</file>